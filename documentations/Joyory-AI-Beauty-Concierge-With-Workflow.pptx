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6" r:id="rId31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" charset="1" panose="00000500000000000000"/>
      <p:regular r:id="rId19"/>
    </p:embeddedFont>
    <p:embeddedFont>
      <p:font typeface="Arimo Bold" charset="1" panose="020B0704020202020204"/>
      <p:regular r:id="rId20"/>
    </p:embeddedFont>
    <p:embeddedFont>
      <p:font typeface="Arimo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notesMaster" Target="notesMasters/notesMaster1.xml"/><Relationship Id="rId17" Type="http://schemas.openxmlformats.org/officeDocument/2006/relationships/theme" Target="theme/theme2.xml"/><Relationship Id="rId18" Type="http://schemas.openxmlformats.org/officeDocument/2006/relationships/notesSlide" Target="notesSlides/notesSlide1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notesSlide" Target="notesSlides/notesSlide2.xml"/><Relationship Id="rId23" Type="http://schemas.openxmlformats.org/officeDocument/2006/relationships/notesSlide" Target="notesSlides/notesSlide3.xml"/><Relationship Id="rId24" Type="http://schemas.openxmlformats.org/officeDocument/2006/relationships/notesSlide" Target="notesSlides/notesSlide4.xml"/><Relationship Id="rId25" Type="http://schemas.openxmlformats.org/officeDocument/2006/relationships/notesSlide" Target="notesSlides/notesSlide5.xml"/><Relationship Id="rId26" Type="http://schemas.openxmlformats.org/officeDocument/2006/relationships/notesSlide" Target="notesSlides/notesSlide6.xml"/><Relationship Id="rId27" Type="http://schemas.openxmlformats.org/officeDocument/2006/relationships/notesSlide" Target="notesSlides/notesSlide7.xml"/><Relationship Id="rId28" Type="http://schemas.openxmlformats.org/officeDocument/2006/relationships/notesSlide" Target="notesSlides/notesSlide8.xml"/><Relationship Id="rId29" Type="http://schemas.openxmlformats.org/officeDocument/2006/relationships/notesSlide" Target="notesSlides/notesSlide9.xml"/><Relationship Id="rId30" Type="http://schemas.openxmlformats.org/officeDocument/2006/relationships/notesSlide" Target="notesSlides/notesSlide10.xml"/><Relationship Id="rId31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95026" cy="12519279"/>
            </a:xfrm>
            <a:custGeom>
              <a:avLst/>
              <a:gdLst/>
              <a:ahLst/>
              <a:cxnLst/>
              <a:rect r="r" b="b" t="t" l="l"/>
              <a:pathLst>
                <a:path h="12519279" w="23195026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250" t="0" r="-19250" b="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72638" y="1372676"/>
            <a:ext cx="9516866" cy="27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108">
                <a:solidFill>
                  <a:srgbClr val="03625F"/>
                </a:solidFill>
                <a:latin typeface="Montserrat"/>
                <a:ea typeface="Montserrat"/>
                <a:cs typeface="Montserrat"/>
                <a:sym typeface="Montserrat"/>
              </a:rPr>
              <a:t>B.TECH HACKATHON 2026 · TASK 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2638" y="1861585"/>
            <a:ext cx="8601780" cy="335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89"/>
              </a:lnSpc>
            </a:pPr>
            <a:r>
              <a:rPr lang="en-US" b="true" sz="8706" spc="-174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Joyory AI</a:t>
            </a:r>
          </a:p>
          <a:p>
            <a:pPr algn="l">
              <a:lnSpc>
                <a:spcPts val="9089"/>
              </a:lnSpc>
            </a:pPr>
            <a:r>
              <a:rPr lang="en-US" b="true" sz="8706" spc="-174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Beauty Concierge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8838" y="5644725"/>
            <a:ext cx="8525580" cy="1814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</a:pPr>
            <a:r>
              <a:rPr lang="en-US" b="true" sz="8106" spc="-283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Diagnose. Guide. Retain.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2638" y="7707173"/>
            <a:ext cx="8601780" cy="8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An AI shopping assistant disguised as a skincare scanner.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72638" y="8870985"/>
            <a:ext cx="4467034" cy="477964"/>
            <a:chOff x="0" y="0"/>
            <a:chExt cx="5956046" cy="6372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56046" cy="637286"/>
            </a:xfrm>
            <a:custGeom>
              <a:avLst/>
              <a:gdLst/>
              <a:ahLst/>
              <a:cxnLst/>
              <a:rect r="r" b="b" t="t" l="l"/>
              <a:pathLst>
                <a:path h="637286" w="5956046">
                  <a:moveTo>
                    <a:pt x="0" y="318643"/>
                  </a:moveTo>
                  <a:cubicBezTo>
                    <a:pt x="0" y="142621"/>
                    <a:pt x="142621" y="0"/>
                    <a:pt x="318643" y="0"/>
                  </a:cubicBezTo>
                  <a:lnTo>
                    <a:pt x="5637403" y="0"/>
                  </a:lnTo>
                  <a:cubicBezTo>
                    <a:pt x="5813425" y="0"/>
                    <a:pt x="5956046" y="142621"/>
                    <a:pt x="5956046" y="318643"/>
                  </a:cubicBezTo>
                  <a:cubicBezTo>
                    <a:pt x="5956046" y="494665"/>
                    <a:pt x="5813425" y="637286"/>
                    <a:pt x="5637403" y="637286"/>
                  </a:cubicBezTo>
                  <a:lnTo>
                    <a:pt x="318643" y="637286"/>
                  </a:lnTo>
                  <a:cubicBezTo>
                    <a:pt x="142621" y="637286"/>
                    <a:pt x="0" y="494665"/>
                    <a:pt x="0" y="318643"/>
                  </a:cubicBezTo>
                  <a:close/>
                </a:path>
              </a:pathLst>
            </a:custGeom>
            <a:solidFill>
              <a:srgbClr val="D0FBF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61348" y="8955738"/>
            <a:ext cx="5004711" cy="298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951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SMART SHOPPING EXPERIENCE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889504" y="457562"/>
            <a:ext cx="6954793" cy="9806502"/>
            <a:chOff x="0" y="0"/>
            <a:chExt cx="9273057" cy="13075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73032" cy="13075286"/>
            </a:xfrm>
            <a:custGeom>
              <a:avLst/>
              <a:gdLst/>
              <a:ahLst/>
              <a:cxnLst/>
              <a:rect r="r" b="b" t="t" l="l"/>
              <a:pathLst>
                <a:path h="13075286" w="9273032">
                  <a:moveTo>
                    <a:pt x="0" y="629031"/>
                  </a:moveTo>
                  <a:cubicBezTo>
                    <a:pt x="0" y="281686"/>
                    <a:pt x="281686" y="0"/>
                    <a:pt x="629031" y="0"/>
                  </a:cubicBezTo>
                  <a:lnTo>
                    <a:pt x="8644001" y="0"/>
                  </a:lnTo>
                  <a:cubicBezTo>
                    <a:pt x="8991473" y="0"/>
                    <a:pt x="9273032" y="281686"/>
                    <a:pt x="9273032" y="629031"/>
                  </a:cubicBezTo>
                  <a:lnTo>
                    <a:pt x="9273032" y="12446254"/>
                  </a:lnTo>
                  <a:cubicBezTo>
                    <a:pt x="9273032" y="12793726"/>
                    <a:pt x="8991346" y="13075286"/>
                    <a:pt x="8644001" y="13075286"/>
                  </a:cubicBezTo>
                  <a:lnTo>
                    <a:pt x="629031" y="13075286"/>
                  </a:lnTo>
                  <a:cubicBezTo>
                    <a:pt x="281686" y="13075286"/>
                    <a:pt x="0" y="12793726"/>
                    <a:pt x="0" y="12446254"/>
                  </a:cubicBezTo>
                  <a:close/>
                </a:path>
              </a:pathLst>
            </a:custGeom>
            <a:solidFill>
              <a:srgbClr val="EEEFF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003890" y="571948"/>
            <a:ext cx="6726012" cy="9577730"/>
            <a:chOff x="0" y="0"/>
            <a:chExt cx="8968016" cy="12770307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8967978" cy="12770358"/>
            </a:xfrm>
            <a:custGeom>
              <a:avLst/>
              <a:gdLst/>
              <a:ahLst/>
              <a:cxnLst/>
              <a:rect r="r" b="b" t="t" l="l"/>
              <a:pathLst>
                <a:path h="12770358" w="8967978">
                  <a:moveTo>
                    <a:pt x="0" y="0"/>
                  </a:moveTo>
                  <a:lnTo>
                    <a:pt x="8967978" y="0"/>
                  </a:lnTo>
                  <a:lnTo>
                    <a:pt x="8967978" y="12770358"/>
                  </a:lnTo>
                  <a:lnTo>
                    <a:pt x="0" y="12770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1" t="0" r="-52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95026" cy="12519279"/>
            </a:xfrm>
            <a:custGeom>
              <a:avLst/>
              <a:gdLst/>
              <a:ahLst/>
              <a:cxnLst/>
              <a:rect r="r" b="b" t="t" l="l"/>
              <a:pathLst>
                <a:path h="12519279" w="23195026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250" t="0" r="-19250" b="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72638" y="1420301"/>
            <a:ext cx="15556563" cy="50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8"/>
              </a:lnSpc>
            </a:pPr>
            <a:r>
              <a:rPr lang="en-US" b="true" sz="4203" spc="-84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Beauty shopping online is broken in three ways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72638" y="2299554"/>
            <a:ext cx="1944567" cy="104708"/>
            <a:chOff x="0" y="0"/>
            <a:chExt cx="2592756" cy="1396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92832" cy="139700"/>
            </a:xfrm>
            <a:custGeom>
              <a:avLst/>
              <a:gdLst/>
              <a:ahLst/>
              <a:cxnLst/>
              <a:rect r="r" b="b" t="t" l="l"/>
              <a:pathLst>
                <a:path h="139700" w="2592832">
                  <a:moveTo>
                    <a:pt x="0" y="69850"/>
                  </a:moveTo>
                  <a:cubicBezTo>
                    <a:pt x="0" y="31242"/>
                    <a:pt x="31242" y="0"/>
                    <a:pt x="69850" y="0"/>
                  </a:cubicBezTo>
                  <a:lnTo>
                    <a:pt x="2522982" y="0"/>
                  </a:lnTo>
                  <a:cubicBezTo>
                    <a:pt x="2561590" y="0"/>
                    <a:pt x="2592832" y="31242"/>
                    <a:pt x="2592832" y="69850"/>
                  </a:cubicBezTo>
                  <a:cubicBezTo>
                    <a:pt x="2592832" y="108458"/>
                    <a:pt x="2561590" y="139700"/>
                    <a:pt x="2522982" y="139700"/>
                  </a:cubicBezTo>
                  <a:lnTo>
                    <a:pt x="69850" y="139700"/>
                  </a:lnTo>
                  <a:cubicBezTo>
                    <a:pt x="31242" y="139573"/>
                    <a:pt x="0" y="108331"/>
                    <a:pt x="0" y="69850"/>
                  </a:cubicBezTo>
                  <a:close/>
                </a:path>
              </a:pathLst>
            </a:custGeom>
            <a:solidFill>
              <a:srgbClr val="0F9D9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2638" y="2747581"/>
            <a:ext cx="4880496" cy="4563961"/>
            <a:chOff x="0" y="0"/>
            <a:chExt cx="6507328" cy="60852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07353" cy="6085332"/>
            </a:xfrm>
            <a:custGeom>
              <a:avLst/>
              <a:gdLst/>
              <a:ahLst/>
              <a:cxnLst/>
              <a:rect r="r" b="b" t="t" l="l"/>
              <a:pathLst>
                <a:path h="6085332" w="6507353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5878195" y="0"/>
                  </a:lnTo>
                  <a:cubicBezTo>
                    <a:pt x="6225667" y="0"/>
                    <a:pt x="6507353" y="281686"/>
                    <a:pt x="6507353" y="629158"/>
                  </a:cubicBezTo>
                  <a:lnTo>
                    <a:pt x="6507353" y="5456174"/>
                  </a:lnTo>
                  <a:cubicBezTo>
                    <a:pt x="6507353" y="5803646"/>
                    <a:pt x="6225667" y="6085332"/>
                    <a:pt x="5878195" y="6085332"/>
                  </a:cubicBezTo>
                  <a:lnTo>
                    <a:pt x="629158" y="6085332"/>
                  </a:lnTo>
                  <a:cubicBezTo>
                    <a:pt x="281686" y="6085332"/>
                    <a:pt x="0" y="5803646"/>
                    <a:pt x="0" y="5456174"/>
                  </a:cubicBezTo>
                  <a:close/>
                </a:path>
              </a:pathLst>
            </a:custGeom>
            <a:solidFill>
              <a:srgbClr val="C0F3F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15795" y="3090748"/>
            <a:ext cx="786403" cy="786432"/>
            <a:chOff x="0" y="0"/>
            <a:chExt cx="1048537" cy="1048576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4" b="-6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15795" y="4020179"/>
            <a:ext cx="4194172" cy="531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Discovery friction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15795" y="4718895"/>
            <a:ext cx="4194172" cy="217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Hundreds of SKUs across Foxtale, Plum, Dr Sheth’s, Aqualogica, and more leave shoppers unsure what fits their skin.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710677" y="2747581"/>
            <a:ext cx="4880496" cy="4563961"/>
            <a:chOff x="0" y="0"/>
            <a:chExt cx="6507328" cy="608528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07353" cy="6085332"/>
            </a:xfrm>
            <a:custGeom>
              <a:avLst/>
              <a:gdLst/>
              <a:ahLst/>
              <a:cxnLst/>
              <a:rect r="r" b="b" t="t" l="l"/>
              <a:pathLst>
                <a:path h="6085332" w="6507353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5878195" y="0"/>
                  </a:lnTo>
                  <a:cubicBezTo>
                    <a:pt x="6225667" y="0"/>
                    <a:pt x="6507353" y="281686"/>
                    <a:pt x="6507353" y="629158"/>
                  </a:cubicBezTo>
                  <a:lnTo>
                    <a:pt x="6507353" y="5456174"/>
                  </a:lnTo>
                  <a:cubicBezTo>
                    <a:pt x="6507353" y="5803646"/>
                    <a:pt x="6225667" y="6085332"/>
                    <a:pt x="5878195" y="6085332"/>
                  </a:cubicBezTo>
                  <a:lnTo>
                    <a:pt x="629158" y="6085332"/>
                  </a:lnTo>
                  <a:cubicBezTo>
                    <a:pt x="281686" y="6085332"/>
                    <a:pt x="0" y="5803646"/>
                    <a:pt x="0" y="5456174"/>
                  </a:cubicBezTo>
                  <a:close/>
                </a:path>
              </a:pathLst>
            </a:custGeom>
            <a:solidFill>
              <a:srgbClr val="C0F3F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053834" y="3090748"/>
            <a:ext cx="786403" cy="786432"/>
            <a:chOff x="0" y="0"/>
            <a:chExt cx="1048537" cy="1048576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4" b="-6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053834" y="4020179"/>
            <a:ext cx="4194172" cy="103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Understanding friction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53834" y="5222177"/>
            <a:ext cx="4194172" cy="174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Niacinamide, Retinol, and Alpha Arbutin rarely translate into confident choices.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48715" y="2747581"/>
            <a:ext cx="4880496" cy="4563961"/>
            <a:chOff x="0" y="0"/>
            <a:chExt cx="6507328" cy="60852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07353" cy="6085332"/>
            </a:xfrm>
            <a:custGeom>
              <a:avLst/>
              <a:gdLst/>
              <a:ahLst/>
              <a:cxnLst/>
              <a:rect r="r" b="b" t="t" l="l"/>
              <a:pathLst>
                <a:path h="6085332" w="6507353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5878195" y="0"/>
                  </a:lnTo>
                  <a:cubicBezTo>
                    <a:pt x="6225667" y="0"/>
                    <a:pt x="6507353" y="281686"/>
                    <a:pt x="6507353" y="629158"/>
                  </a:cubicBezTo>
                  <a:lnTo>
                    <a:pt x="6507353" y="5456174"/>
                  </a:lnTo>
                  <a:cubicBezTo>
                    <a:pt x="6507353" y="5803646"/>
                    <a:pt x="6225667" y="6085332"/>
                    <a:pt x="5878195" y="6085332"/>
                  </a:cubicBezTo>
                  <a:lnTo>
                    <a:pt x="629158" y="6085332"/>
                  </a:lnTo>
                  <a:cubicBezTo>
                    <a:pt x="281686" y="6085332"/>
                    <a:pt x="0" y="5803646"/>
                    <a:pt x="0" y="5456174"/>
                  </a:cubicBezTo>
                  <a:close/>
                </a:path>
              </a:pathLst>
            </a:custGeom>
            <a:solidFill>
              <a:srgbClr val="C0F3F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391873" y="3090748"/>
            <a:ext cx="786403" cy="786432"/>
            <a:chOff x="0" y="0"/>
            <a:chExt cx="1048537" cy="1048576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4" b="-6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391873" y="4020179"/>
            <a:ext cx="4194172" cy="103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Engagement friction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91873" y="5222177"/>
            <a:ext cx="4194172" cy="8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Once a product runs out, the relationship ends.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2638" y="7568917"/>
            <a:ext cx="16471659" cy="29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spc="36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Joyory already signals demand with planned Smart Beauty Quiz, AI Beauty Concierge, and Skincare Routine Builder features.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95026" cy="12519279"/>
            </a:xfrm>
            <a:custGeom>
              <a:avLst/>
              <a:gdLst/>
              <a:ahLst/>
              <a:cxnLst/>
              <a:rect r="r" b="b" t="t" l="l"/>
              <a:pathLst>
                <a:path h="12519279" w="23195026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250" t="0" r="-19250" b="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72638" y="1372676"/>
            <a:ext cx="8113843" cy="27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108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THE GROWTH LOOP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2638" y="1880635"/>
            <a:ext cx="7198757" cy="3106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0"/>
              </a:lnSpc>
            </a:pPr>
            <a:r>
              <a:rPr lang="en-US" b="true" sz="6605" spc="-231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One AI assistant.</a:t>
            </a:r>
          </a:p>
          <a:p>
            <a:pPr algn="l">
              <a:lnSpc>
                <a:spcPts val="6340"/>
              </a:lnSpc>
            </a:pPr>
            <a:r>
              <a:rPr lang="en-US" b="true" sz="6605" spc="-231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Five specialized agents.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8838" y="5282594"/>
            <a:ext cx="7122557" cy="447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b="true" sz="3602" spc="-72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One growth loop.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2638" y="5977623"/>
            <a:ext cx="7198757" cy="174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Embedded into Joyory, the assistant scans a selfie, diagnoses skin, recommends real catalog products, builds a safe routine, and brings the customer back for reorders.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2638" y="7981198"/>
            <a:ext cx="8113843" cy="29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spc="36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One product can cover Task 1, Task 2, and Task 3 together.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90560" y="2929147"/>
            <a:ext cx="8007058" cy="4436755"/>
            <a:chOff x="0" y="0"/>
            <a:chExt cx="10676077" cy="5915673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0676128" cy="5915660"/>
            </a:xfrm>
            <a:custGeom>
              <a:avLst/>
              <a:gdLst/>
              <a:ahLst/>
              <a:cxnLst/>
              <a:rect r="r" b="b" t="t" l="l"/>
              <a:pathLst>
                <a:path h="5915660" w="10676128">
                  <a:moveTo>
                    <a:pt x="0" y="0"/>
                  </a:moveTo>
                  <a:lnTo>
                    <a:pt x="10676128" y="0"/>
                  </a:lnTo>
                  <a:lnTo>
                    <a:pt x="10676128" y="5915660"/>
                  </a:lnTo>
                  <a:lnTo>
                    <a:pt x="0" y="5915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2" r="0" b="-113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120745" y="4526128"/>
            <a:ext cx="1690802" cy="480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b="true" sz="1501" spc="-3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AI Beauty Concierge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20745" y="5062585"/>
            <a:ext cx="1690802" cy="60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6"/>
              </a:lnSpc>
            </a:pPr>
            <a:r>
              <a:rPr lang="en-US" sz="11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Central assistant powering the growth loop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70442" y="3303613"/>
            <a:ext cx="1947034" cy="24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b="true" sz="1501" spc="-3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Acquire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70442" y="3609537"/>
            <a:ext cx="1947034" cy="41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6"/>
              </a:lnSpc>
            </a:pPr>
            <a:r>
              <a:rPr lang="en-US" sz="11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Free AI skin diagnosis draws customers in.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78890" y="4705455"/>
            <a:ext cx="1947034" cy="24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b="true" sz="1501" spc="-3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Engage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578890" y="5011379"/>
            <a:ext cx="1947034" cy="60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6"/>
              </a:lnSpc>
            </a:pPr>
            <a:r>
              <a:rPr lang="en-US" sz="11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Personalized routine and ingredient guidance build trust.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46243" y="5842473"/>
            <a:ext cx="1947034" cy="24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b="true" sz="1501" spc="-3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Monetize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46243" y="6148397"/>
            <a:ext cx="1947034" cy="60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6"/>
              </a:lnSpc>
            </a:pPr>
            <a:r>
              <a:rPr lang="en-US" sz="11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Reorder nudges and progress tracking drive repeat revenue.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95026" cy="12519279"/>
            </a:xfrm>
            <a:custGeom>
              <a:avLst/>
              <a:gdLst/>
              <a:ahLst/>
              <a:cxnLst/>
              <a:rect r="r" b="b" t="t" l="l"/>
              <a:pathLst>
                <a:path h="12519279" w="23195026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250" t="0" r="-19250" b="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72638" y="1372676"/>
            <a:ext cx="16471659" cy="27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108">
                <a:solidFill>
                  <a:srgbClr val="0F9D9A"/>
                </a:solidFill>
                <a:latin typeface="Montserrat"/>
                <a:ea typeface="Montserrat"/>
                <a:cs typeface="Montserrat"/>
                <a:sym typeface="Montserrat"/>
              </a:rPr>
              <a:t>THE AGENT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2638" y="1813960"/>
            <a:ext cx="15556563" cy="50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8"/>
              </a:lnSpc>
            </a:pPr>
            <a:r>
              <a:rPr lang="en-US" b="true" sz="4203" spc="-84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Five agents, one seamless experience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72638" y="2693213"/>
            <a:ext cx="1944567" cy="104708"/>
            <a:chOff x="0" y="0"/>
            <a:chExt cx="2592756" cy="1396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92832" cy="139700"/>
            </a:xfrm>
            <a:custGeom>
              <a:avLst/>
              <a:gdLst/>
              <a:ahLst/>
              <a:cxnLst/>
              <a:rect r="r" b="b" t="t" l="l"/>
              <a:pathLst>
                <a:path h="139700" w="2592832">
                  <a:moveTo>
                    <a:pt x="0" y="69850"/>
                  </a:moveTo>
                  <a:cubicBezTo>
                    <a:pt x="0" y="31242"/>
                    <a:pt x="31242" y="0"/>
                    <a:pt x="69850" y="0"/>
                  </a:cubicBezTo>
                  <a:lnTo>
                    <a:pt x="2522982" y="0"/>
                  </a:lnTo>
                  <a:cubicBezTo>
                    <a:pt x="2561590" y="0"/>
                    <a:pt x="2592832" y="31242"/>
                    <a:pt x="2592832" y="69850"/>
                  </a:cubicBezTo>
                  <a:cubicBezTo>
                    <a:pt x="2592832" y="108458"/>
                    <a:pt x="2561590" y="139700"/>
                    <a:pt x="2522982" y="139700"/>
                  </a:cubicBezTo>
                  <a:lnTo>
                    <a:pt x="69850" y="139700"/>
                  </a:lnTo>
                  <a:cubicBezTo>
                    <a:pt x="31242" y="139573"/>
                    <a:pt x="0" y="108331"/>
                    <a:pt x="0" y="69850"/>
                  </a:cubicBezTo>
                  <a:close/>
                </a:path>
              </a:pathLst>
            </a:custGeom>
            <a:solidFill>
              <a:srgbClr val="0F9D9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2638" y="3613099"/>
            <a:ext cx="2928328" cy="4756842"/>
            <a:chOff x="0" y="0"/>
            <a:chExt cx="3904437" cy="63424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04488" cy="6342507"/>
            </a:xfrm>
            <a:custGeom>
              <a:avLst/>
              <a:gdLst/>
              <a:ahLst/>
              <a:cxnLst/>
              <a:rect r="r" b="b" t="t" l="l"/>
              <a:pathLst>
                <a:path h="6342507" w="3904488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3275330" y="0"/>
                  </a:lnTo>
                  <a:cubicBezTo>
                    <a:pt x="3622802" y="0"/>
                    <a:pt x="3904488" y="281686"/>
                    <a:pt x="3904488" y="629158"/>
                  </a:cubicBezTo>
                  <a:lnTo>
                    <a:pt x="3904488" y="5713349"/>
                  </a:lnTo>
                  <a:cubicBezTo>
                    <a:pt x="3904488" y="6060821"/>
                    <a:pt x="3622802" y="6342507"/>
                    <a:pt x="3275330" y="6342507"/>
                  </a:cubicBezTo>
                  <a:lnTo>
                    <a:pt x="629158" y="6342507"/>
                  </a:lnTo>
                  <a:cubicBezTo>
                    <a:pt x="281686" y="6342507"/>
                    <a:pt x="0" y="6060821"/>
                    <a:pt x="0" y="5713349"/>
                  </a:cubicBezTo>
                  <a:close/>
                </a:path>
              </a:pathLst>
            </a:custGeom>
            <a:solidFill>
              <a:srgbClr val="D0FBF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15795" y="4409065"/>
            <a:ext cx="2242004" cy="43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Vision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15795" y="5006654"/>
            <a:ext cx="2242004" cy="174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Selfie → skin type, concerns, severity.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529585" y="3613099"/>
            <a:ext cx="2928471" cy="4756842"/>
            <a:chOff x="0" y="0"/>
            <a:chExt cx="3904628" cy="63424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04615" cy="6342507"/>
            </a:xfrm>
            <a:custGeom>
              <a:avLst/>
              <a:gdLst/>
              <a:ahLst/>
              <a:cxnLst/>
              <a:rect r="r" b="b" t="t" l="l"/>
              <a:pathLst>
                <a:path h="6342507" w="3904615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3275457" y="0"/>
                  </a:lnTo>
                  <a:cubicBezTo>
                    <a:pt x="3622929" y="0"/>
                    <a:pt x="3904615" y="281686"/>
                    <a:pt x="3904615" y="629158"/>
                  </a:cubicBezTo>
                  <a:lnTo>
                    <a:pt x="3904615" y="5713349"/>
                  </a:lnTo>
                  <a:cubicBezTo>
                    <a:pt x="3904615" y="6060821"/>
                    <a:pt x="3622929" y="6342507"/>
                    <a:pt x="3275457" y="6342507"/>
                  </a:cubicBezTo>
                  <a:lnTo>
                    <a:pt x="629158" y="6342507"/>
                  </a:lnTo>
                  <a:cubicBezTo>
                    <a:pt x="281686" y="6342507"/>
                    <a:pt x="0" y="6060821"/>
                    <a:pt x="0" y="5713349"/>
                  </a:cubicBezTo>
                  <a:close/>
                </a:path>
              </a:pathLst>
            </a:custGeom>
            <a:solidFill>
              <a:srgbClr val="D0FBF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872742" y="4409065"/>
            <a:ext cx="2242156" cy="43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Match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72742" y="5006654"/>
            <a:ext cx="2242156" cy="259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Diagnosis → real Joyory products by ingredient, skin type, budget.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686685" y="3613099"/>
            <a:ext cx="2928328" cy="4756842"/>
            <a:chOff x="0" y="0"/>
            <a:chExt cx="3904437" cy="63424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04488" cy="6342507"/>
            </a:xfrm>
            <a:custGeom>
              <a:avLst/>
              <a:gdLst/>
              <a:ahLst/>
              <a:cxnLst/>
              <a:rect r="r" b="b" t="t" l="l"/>
              <a:pathLst>
                <a:path h="6342507" w="3904488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3275330" y="0"/>
                  </a:lnTo>
                  <a:cubicBezTo>
                    <a:pt x="3622802" y="0"/>
                    <a:pt x="3904488" y="281686"/>
                    <a:pt x="3904488" y="629158"/>
                  </a:cubicBezTo>
                  <a:lnTo>
                    <a:pt x="3904488" y="5713349"/>
                  </a:lnTo>
                  <a:cubicBezTo>
                    <a:pt x="3904488" y="6060821"/>
                    <a:pt x="3622802" y="6342507"/>
                    <a:pt x="3275330" y="6342507"/>
                  </a:cubicBezTo>
                  <a:lnTo>
                    <a:pt x="629158" y="6342507"/>
                  </a:lnTo>
                  <a:cubicBezTo>
                    <a:pt x="281686" y="6342507"/>
                    <a:pt x="0" y="6060821"/>
                    <a:pt x="0" y="5713349"/>
                  </a:cubicBezTo>
                  <a:close/>
                </a:path>
              </a:pathLst>
            </a:custGeom>
            <a:solidFill>
              <a:srgbClr val="D0FBF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029842" y="4409065"/>
            <a:ext cx="2242004" cy="43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Routine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29842" y="5006654"/>
            <a:ext cx="2242004" cy="3020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AM/PM routine with conflict checks, including Retinol + Vitamin C.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843631" y="3613099"/>
            <a:ext cx="2928471" cy="4756842"/>
            <a:chOff x="0" y="0"/>
            <a:chExt cx="3904628" cy="63424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04615" cy="6342507"/>
            </a:xfrm>
            <a:custGeom>
              <a:avLst/>
              <a:gdLst/>
              <a:ahLst/>
              <a:cxnLst/>
              <a:rect r="r" b="b" t="t" l="l"/>
              <a:pathLst>
                <a:path h="6342507" w="3904615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3275457" y="0"/>
                  </a:lnTo>
                  <a:cubicBezTo>
                    <a:pt x="3622929" y="0"/>
                    <a:pt x="3904615" y="281686"/>
                    <a:pt x="3904615" y="629158"/>
                  </a:cubicBezTo>
                  <a:lnTo>
                    <a:pt x="3904615" y="5713349"/>
                  </a:lnTo>
                  <a:cubicBezTo>
                    <a:pt x="3904615" y="6060821"/>
                    <a:pt x="3622929" y="6342507"/>
                    <a:pt x="3275457" y="6342507"/>
                  </a:cubicBezTo>
                  <a:lnTo>
                    <a:pt x="629158" y="6342507"/>
                  </a:lnTo>
                  <a:cubicBezTo>
                    <a:pt x="281686" y="6342507"/>
                    <a:pt x="0" y="6060821"/>
                    <a:pt x="0" y="5713349"/>
                  </a:cubicBezTo>
                  <a:close/>
                </a:path>
              </a:pathLst>
            </a:custGeom>
            <a:solidFill>
              <a:srgbClr val="D0FBFA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186789" y="4409065"/>
            <a:ext cx="2242156" cy="43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Retention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86789" y="5006654"/>
            <a:ext cx="2242156" cy="3020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Usage estimate → reorder nudge; illustrative 30ml serum ≈ 45 days.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4000731" y="3613099"/>
            <a:ext cx="2928328" cy="4756842"/>
            <a:chOff x="0" y="0"/>
            <a:chExt cx="3904437" cy="63424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04488" cy="6342507"/>
            </a:xfrm>
            <a:custGeom>
              <a:avLst/>
              <a:gdLst/>
              <a:ahLst/>
              <a:cxnLst/>
              <a:rect r="r" b="b" t="t" l="l"/>
              <a:pathLst>
                <a:path h="6342507" w="3904488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3275330" y="0"/>
                  </a:lnTo>
                  <a:cubicBezTo>
                    <a:pt x="3622802" y="0"/>
                    <a:pt x="3904488" y="281686"/>
                    <a:pt x="3904488" y="629158"/>
                  </a:cubicBezTo>
                  <a:lnTo>
                    <a:pt x="3904488" y="5713349"/>
                  </a:lnTo>
                  <a:cubicBezTo>
                    <a:pt x="3904488" y="6060821"/>
                    <a:pt x="3622802" y="6342507"/>
                    <a:pt x="3275330" y="6342507"/>
                  </a:cubicBezTo>
                  <a:lnTo>
                    <a:pt x="629158" y="6342507"/>
                  </a:lnTo>
                  <a:cubicBezTo>
                    <a:pt x="281686" y="6342507"/>
                    <a:pt x="0" y="6060821"/>
                    <a:pt x="0" y="5713349"/>
                  </a:cubicBezTo>
                  <a:close/>
                </a:path>
              </a:pathLst>
            </a:custGeom>
            <a:solidFill>
              <a:srgbClr val="D0FBFA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4343888" y="4409065"/>
            <a:ext cx="2242004" cy="43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Tracker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343888" y="5006654"/>
            <a:ext cx="2242004" cy="174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Re-scan every 2–3 weeks and re-trigger suggestions.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355352" y="3131706"/>
            <a:ext cx="962749" cy="962777"/>
            <a:chOff x="0" y="0"/>
            <a:chExt cx="1283665" cy="12837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3716" cy="1283716"/>
            </a:xfrm>
            <a:custGeom>
              <a:avLst/>
              <a:gdLst/>
              <a:ahLst/>
              <a:cxnLst/>
              <a:rect r="r" b="b" t="t" l="l"/>
              <a:pathLst>
                <a:path h="1283716" w="1283716">
                  <a:moveTo>
                    <a:pt x="0" y="641858"/>
                  </a:moveTo>
                  <a:cubicBezTo>
                    <a:pt x="0" y="287401"/>
                    <a:pt x="287401" y="0"/>
                    <a:pt x="641858" y="0"/>
                  </a:cubicBezTo>
                  <a:cubicBezTo>
                    <a:pt x="996315" y="0"/>
                    <a:pt x="1283716" y="287401"/>
                    <a:pt x="1283716" y="641858"/>
                  </a:cubicBezTo>
                  <a:cubicBezTo>
                    <a:pt x="1283716" y="996315"/>
                    <a:pt x="996315" y="1283716"/>
                    <a:pt x="641858" y="1283716"/>
                  </a:cubicBezTo>
                  <a:cubicBezTo>
                    <a:pt x="287401" y="1283716"/>
                    <a:pt x="0" y="996315"/>
                    <a:pt x="0" y="641858"/>
                  </a:cubicBezTo>
                  <a:close/>
                </a:path>
              </a:pathLst>
            </a:custGeom>
            <a:solidFill>
              <a:srgbClr val="0F9D9A"/>
            </a:solidFill>
            <a:ln w="19065" cap="sq">
              <a:solidFill>
                <a:srgbClr val="B6E1E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2600801" y="3377165"/>
            <a:ext cx="471840" cy="471859"/>
            <a:chOff x="0" y="0"/>
            <a:chExt cx="629120" cy="629145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629158" cy="629158"/>
            </a:xfrm>
            <a:custGeom>
              <a:avLst/>
              <a:gdLst/>
              <a:ahLst/>
              <a:cxnLst/>
              <a:rect r="r" b="b" t="t" l="l"/>
              <a:pathLst>
                <a:path h="629158" w="629158">
                  <a:moveTo>
                    <a:pt x="0" y="0"/>
                  </a:moveTo>
                  <a:lnTo>
                    <a:pt x="629158" y="0"/>
                  </a:lnTo>
                  <a:lnTo>
                    <a:pt x="629158" y="629158"/>
                  </a:lnTo>
                  <a:lnTo>
                    <a:pt x="0" y="629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3" b="2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512441" y="3131706"/>
            <a:ext cx="962749" cy="962777"/>
            <a:chOff x="0" y="0"/>
            <a:chExt cx="1283665" cy="12837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83716" cy="1283716"/>
            </a:xfrm>
            <a:custGeom>
              <a:avLst/>
              <a:gdLst/>
              <a:ahLst/>
              <a:cxnLst/>
              <a:rect r="r" b="b" t="t" l="l"/>
              <a:pathLst>
                <a:path h="1283716" w="1283716">
                  <a:moveTo>
                    <a:pt x="0" y="641858"/>
                  </a:moveTo>
                  <a:cubicBezTo>
                    <a:pt x="0" y="287401"/>
                    <a:pt x="287401" y="0"/>
                    <a:pt x="641858" y="0"/>
                  </a:cubicBezTo>
                  <a:cubicBezTo>
                    <a:pt x="996315" y="0"/>
                    <a:pt x="1283716" y="287401"/>
                    <a:pt x="1283716" y="641858"/>
                  </a:cubicBezTo>
                  <a:cubicBezTo>
                    <a:pt x="1283716" y="996315"/>
                    <a:pt x="996315" y="1283716"/>
                    <a:pt x="641858" y="1283716"/>
                  </a:cubicBezTo>
                  <a:cubicBezTo>
                    <a:pt x="287401" y="1283716"/>
                    <a:pt x="0" y="996315"/>
                    <a:pt x="0" y="641858"/>
                  </a:cubicBezTo>
                  <a:close/>
                </a:path>
              </a:pathLst>
            </a:custGeom>
            <a:solidFill>
              <a:srgbClr val="0F9D9A"/>
            </a:solidFill>
            <a:ln w="19065" cap="sq">
              <a:solidFill>
                <a:srgbClr val="B6E1E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5757901" y="3377165"/>
            <a:ext cx="471840" cy="471859"/>
            <a:chOff x="0" y="0"/>
            <a:chExt cx="629120" cy="629145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629158" cy="629158"/>
            </a:xfrm>
            <a:custGeom>
              <a:avLst/>
              <a:gdLst/>
              <a:ahLst/>
              <a:cxnLst/>
              <a:rect r="r" b="b" t="t" l="l"/>
              <a:pathLst>
                <a:path h="629158" w="629158">
                  <a:moveTo>
                    <a:pt x="0" y="0"/>
                  </a:moveTo>
                  <a:lnTo>
                    <a:pt x="629158" y="0"/>
                  </a:lnTo>
                  <a:lnTo>
                    <a:pt x="629158" y="629158"/>
                  </a:lnTo>
                  <a:lnTo>
                    <a:pt x="0" y="629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3" b="2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669398" y="3131706"/>
            <a:ext cx="962749" cy="962777"/>
            <a:chOff x="0" y="0"/>
            <a:chExt cx="1283665" cy="128370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3716" cy="1283716"/>
            </a:xfrm>
            <a:custGeom>
              <a:avLst/>
              <a:gdLst/>
              <a:ahLst/>
              <a:cxnLst/>
              <a:rect r="r" b="b" t="t" l="l"/>
              <a:pathLst>
                <a:path h="1283716" w="1283716">
                  <a:moveTo>
                    <a:pt x="0" y="641858"/>
                  </a:moveTo>
                  <a:cubicBezTo>
                    <a:pt x="0" y="287401"/>
                    <a:pt x="287401" y="0"/>
                    <a:pt x="641858" y="0"/>
                  </a:cubicBezTo>
                  <a:cubicBezTo>
                    <a:pt x="996315" y="0"/>
                    <a:pt x="1283716" y="287401"/>
                    <a:pt x="1283716" y="641858"/>
                  </a:cubicBezTo>
                  <a:cubicBezTo>
                    <a:pt x="1283716" y="996315"/>
                    <a:pt x="996315" y="1283716"/>
                    <a:pt x="641858" y="1283716"/>
                  </a:cubicBezTo>
                  <a:cubicBezTo>
                    <a:pt x="287401" y="1283716"/>
                    <a:pt x="0" y="996315"/>
                    <a:pt x="0" y="641858"/>
                  </a:cubicBezTo>
                  <a:close/>
                </a:path>
              </a:pathLst>
            </a:custGeom>
            <a:solidFill>
              <a:srgbClr val="0F9D9A"/>
            </a:solidFill>
            <a:ln w="19065" cap="sq">
              <a:solidFill>
                <a:srgbClr val="B6E1E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8914848" y="3377165"/>
            <a:ext cx="471840" cy="471859"/>
            <a:chOff x="0" y="0"/>
            <a:chExt cx="629120" cy="629145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629158" cy="629158"/>
            </a:xfrm>
            <a:custGeom>
              <a:avLst/>
              <a:gdLst/>
              <a:ahLst/>
              <a:cxnLst/>
              <a:rect r="r" b="b" t="t" l="l"/>
              <a:pathLst>
                <a:path h="629158" w="629158">
                  <a:moveTo>
                    <a:pt x="0" y="0"/>
                  </a:moveTo>
                  <a:lnTo>
                    <a:pt x="629158" y="0"/>
                  </a:lnTo>
                  <a:lnTo>
                    <a:pt x="629158" y="629158"/>
                  </a:lnTo>
                  <a:lnTo>
                    <a:pt x="0" y="629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3" b="2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826488" y="3131706"/>
            <a:ext cx="962749" cy="962777"/>
            <a:chOff x="0" y="0"/>
            <a:chExt cx="1283665" cy="128370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83716" cy="1283716"/>
            </a:xfrm>
            <a:custGeom>
              <a:avLst/>
              <a:gdLst/>
              <a:ahLst/>
              <a:cxnLst/>
              <a:rect r="r" b="b" t="t" l="l"/>
              <a:pathLst>
                <a:path h="1283716" w="1283716">
                  <a:moveTo>
                    <a:pt x="0" y="641858"/>
                  </a:moveTo>
                  <a:cubicBezTo>
                    <a:pt x="0" y="287401"/>
                    <a:pt x="287401" y="0"/>
                    <a:pt x="641858" y="0"/>
                  </a:cubicBezTo>
                  <a:cubicBezTo>
                    <a:pt x="996315" y="0"/>
                    <a:pt x="1283716" y="287401"/>
                    <a:pt x="1283716" y="641858"/>
                  </a:cubicBezTo>
                  <a:cubicBezTo>
                    <a:pt x="1283716" y="996315"/>
                    <a:pt x="996315" y="1283716"/>
                    <a:pt x="641858" y="1283716"/>
                  </a:cubicBezTo>
                  <a:cubicBezTo>
                    <a:pt x="287401" y="1283716"/>
                    <a:pt x="0" y="996315"/>
                    <a:pt x="0" y="641858"/>
                  </a:cubicBezTo>
                  <a:close/>
                </a:path>
              </a:pathLst>
            </a:custGeom>
            <a:solidFill>
              <a:srgbClr val="0F9D9A"/>
            </a:solidFill>
            <a:ln w="19065" cap="sq">
              <a:solidFill>
                <a:srgbClr val="B6E1E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2071947" y="3377165"/>
            <a:ext cx="471840" cy="471859"/>
            <a:chOff x="0" y="0"/>
            <a:chExt cx="629120" cy="629145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629158" cy="629158"/>
            </a:xfrm>
            <a:custGeom>
              <a:avLst/>
              <a:gdLst/>
              <a:ahLst/>
              <a:cxnLst/>
              <a:rect r="r" b="b" t="t" l="l"/>
              <a:pathLst>
                <a:path h="629158" w="629158">
                  <a:moveTo>
                    <a:pt x="0" y="0"/>
                  </a:moveTo>
                  <a:lnTo>
                    <a:pt x="629158" y="0"/>
                  </a:lnTo>
                  <a:lnTo>
                    <a:pt x="629158" y="629158"/>
                  </a:lnTo>
                  <a:lnTo>
                    <a:pt x="0" y="629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3" b="2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983444" y="3131706"/>
            <a:ext cx="962749" cy="962777"/>
            <a:chOff x="0" y="0"/>
            <a:chExt cx="1283665" cy="128370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83716" cy="1283716"/>
            </a:xfrm>
            <a:custGeom>
              <a:avLst/>
              <a:gdLst/>
              <a:ahLst/>
              <a:cxnLst/>
              <a:rect r="r" b="b" t="t" l="l"/>
              <a:pathLst>
                <a:path h="1283716" w="1283716">
                  <a:moveTo>
                    <a:pt x="0" y="641858"/>
                  </a:moveTo>
                  <a:cubicBezTo>
                    <a:pt x="0" y="287401"/>
                    <a:pt x="287401" y="0"/>
                    <a:pt x="641858" y="0"/>
                  </a:cubicBezTo>
                  <a:cubicBezTo>
                    <a:pt x="996315" y="0"/>
                    <a:pt x="1283716" y="287401"/>
                    <a:pt x="1283716" y="641858"/>
                  </a:cubicBezTo>
                  <a:cubicBezTo>
                    <a:pt x="1283716" y="996315"/>
                    <a:pt x="996315" y="1283716"/>
                    <a:pt x="641858" y="1283716"/>
                  </a:cubicBezTo>
                  <a:cubicBezTo>
                    <a:pt x="287401" y="1283716"/>
                    <a:pt x="0" y="996315"/>
                    <a:pt x="0" y="641858"/>
                  </a:cubicBezTo>
                  <a:close/>
                </a:path>
              </a:pathLst>
            </a:custGeom>
            <a:solidFill>
              <a:srgbClr val="0F9D9A"/>
            </a:solidFill>
            <a:ln w="19065" cap="sq">
              <a:solidFill>
                <a:srgbClr val="B6E1E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5228894" y="3377165"/>
            <a:ext cx="471840" cy="471859"/>
            <a:chOff x="0" y="0"/>
            <a:chExt cx="629120" cy="629145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629158" cy="629158"/>
            </a:xfrm>
            <a:custGeom>
              <a:avLst/>
              <a:gdLst/>
              <a:ahLst/>
              <a:cxnLst/>
              <a:rect r="r" b="b" t="t" l="l"/>
              <a:pathLst>
                <a:path h="629158" w="629158">
                  <a:moveTo>
                    <a:pt x="0" y="0"/>
                  </a:moveTo>
                  <a:lnTo>
                    <a:pt x="629158" y="0"/>
                  </a:lnTo>
                  <a:lnTo>
                    <a:pt x="629158" y="629158"/>
                  </a:lnTo>
                  <a:lnTo>
                    <a:pt x="0" y="629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3" b="2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95026" cy="12519279"/>
            </a:xfrm>
            <a:custGeom>
              <a:avLst/>
              <a:gdLst/>
              <a:ahLst/>
              <a:cxnLst/>
              <a:rect r="r" b="b" t="t" l="l"/>
              <a:pathLst>
                <a:path h="12519279" w="23195026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250" t="0" r="-19250" b="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72638" y="1372676"/>
            <a:ext cx="16471659" cy="27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108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THE USER 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2638" y="1813960"/>
            <a:ext cx="15556563" cy="50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8"/>
              </a:lnSpc>
            </a:pPr>
            <a:r>
              <a:rPr lang="en-US" b="true" sz="4203" spc="-84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From selfie to routine in seconds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72638" y="2693213"/>
            <a:ext cx="15556563" cy="47511"/>
            <a:chOff x="0" y="0"/>
            <a:chExt cx="20742084" cy="633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742021" cy="63247"/>
            </a:xfrm>
            <a:custGeom>
              <a:avLst/>
              <a:gdLst/>
              <a:ahLst/>
              <a:cxnLst/>
              <a:rect r="r" b="b" t="t" l="l"/>
              <a:pathLst>
                <a:path h="63247" w="20742021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0710398" y="0"/>
                  </a:lnTo>
                  <a:cubicBezTo>
                    <a:pt x="20727924" y="0"/>
                    <a:pt x="20742021" y="14224"/>
                    <a:pt x="20742021" y="31623"/>
                  </a:cubicBezTo>
                  <a:cubicBezTo>
                    <a:pt x="20742021" y="49149"/>
                    <a:pt x="20727797" y="63246"/>
                    <a:pt x="20710398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75BAE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431591" y="3084043"/>
            <a:ext cx="11438649" cy="5147520"/>
            <a:chOff x="0" y="0"/>
            <a:chExt cx="15251532" cy="6863359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5251557" cy="6863334"/>
            </a:xfrm>
            <a:custGeom>
              <a:avLst/>
              <a:gdLst/>
              <a:ahLst/>
              <a:cxnLst/>
              <a:rect r="r" b="b" t="t" l="l"/>
              <a:pathLst>
                <a:path h="6863334" w="15251557">
                  <a:moveTo>
                    <a:pt x="0" y="0"/>
                  </a:moveTo>
                  <a:lnTo>
                    <a:pt x="15251557" y="0"/>
                  </a:lnTo>
                  <a:lnTo>
                    <a:pt x="15251557" y="6863334"/>
                  </a:lnTo>
                  <a:lnTo>
                    <a:pt x="0" y="6863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51091" y="3171996"/>
            <a:ext cx="2005813" cy="34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b="true" sz="2176" spc="-43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Upload Selfie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51091" y="3601088"/>
            <a:ext cx="2005813" cy="572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7"/>
              </a:lnSpc>
            </a:pPr>
            <a:r>
              <a:rPr lang="en-US" sz="15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Start with a clear portrait photo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936656" y="4696939"/>
            <a:ext cx="446103" cy="446122"/>
            <a:chOff x="0" y="0"/>
            <a:chExt cx="594804" cy="59483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594868" cy="594868"/>
            </a:xfrm>
            <a:custGeom>
              <a:avLst/>
              <a:gdLst/>
              <a:ahLst/>
              <a:cxnLst/>
              <a:rect r="r" b="b" t="t" l="l"/>
              <a:pathLst>
                <a:path h="594868" w="594868">
                  <a:moveTo>
                    <a:pt x="0" y="0"/>
                  </a:moveTo>
                  <a:lnTo>
                    <a:pt x="594868" y="0"/>
                  </a:lnTo>
                  <a:lnTo>
                    <a:pt x="594868" y="594868"/>
                  </a:lnTo>
                  <a:lnTo>
                    <a:pt x="0" y="594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7" b="6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129977" y="7038356"/>
            <a:ext cx="2017252" cy="34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b="true" sz="2176" spc="-43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AI Diagnosis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29977" y="7467448"/>
            <a:ext cx="2017252" cy="572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7"/>
              </a:lnSpc>
            </a:pPr>
            <a:r>
              <a:rPr lang="en-US" sz="15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Analyze skin concerns and tone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915542" y="6321266"/>
            <a:ext cx="446103" cy="446122"/>
            <a:chOff x="0" y="0"/>
            <a:chExt cx="594804" cy="59483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594868" cy="594868"/>
            </a:xfrm>
            <a:custGeom>
              <a:avLst/>
              <a:gdLst/>
              <a:ahLst/>
              <a:cxnLst/>
              <a:rect r="r" b="b" t="t" l="l"/>
              <a:pathLst>
                <a:path h="594868" w="594868">
                  <a:moveTo>
                    <a:pt x="0" y="0"/>
                  </a:moveTo>
                  <a:lnTo>
                    <a:pt x="594868" y="0"/>
                  </a:lnTo>
                  <a:lnTo>
                    <a:pt x="594868" y="594868"/>
                  </a:lnTo>
                  <a:lnTo>
                    <a:pt x="0" y="594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7" b="6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097423" y="3131963"/>
            <a:ext cx="2005813" cy="34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b="true" sz="2176" spc="-43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Product Picks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97423" y="3561055"/>
            <a:ext cx="2005813" cy="572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7"/>
              </a:lnSpc>
            </a:pPr>
            <a:r>
              <a:rPr lang="en-US" sz="15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Personalized skincare and tools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05876" y="4651181"/>
            <a:ext cx="446103" cy="446122"/>
            <a:chOff x="0" y="0"/>
            <a:chExt cx="594804" cy="59483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594868" cy="594868"/>
            </a:xfrm>
            <a:custGeom>
              <a:avLst/>
              <a:gdLst/>
              <a:ahLst/>
              <a:cxnLst/>
              <a:rect r="r" b="b" t="t" l="l"/>
              <a:pathLst>
                <a:path h="594868" w="594868">
                  <a:moveTo>
                    <a:pt x="0" y="0"/>
                  </a:moveTo>
                  <a:lnTo>
                    <a:pt x="594868" y="0"/>
                  </a:lnTo>
                  <a:lnTo>
                    <a:pt x="594868" y="594868"/>
                  </a:lnTo>
                  <a:lnTo>
                    <a:pt x="0" y="594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7" b="6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076308" y="7038356"/>
            <a:ext cx="2005813" cy="34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b="true" sz="2176" spc="-43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Daily Routine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76308" y="7467448"/>
            <a:ext cx="2005813" cy="572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7"/>
              </a:lnSpc>
            </a:pPr>
            <a:r>
              <a:rPr lang="en-US" sz="15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Build a tailored step-by-step plan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861883" y="6321266"/>
            <a:ext cx="446103" cy="446122"/>
            <a:chOff x="0" y="0"/>
            <a:chExt cx="594804" cy="59483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594868" cy="594868"/>
            </a:xfrm>
            <a:custGeom>
              <a:avLst/>
              <a:gdLst/>
              <a:ahLst/>
              <a:cxnLst/>
              <a:rect r="r" b="b" t="t" l="l"/>
              <a:pathLst>
                <a:path h="594868" w="594868">
                  <a:moveTo>
                    <a:pt x="0" y="0"/>
                  </a:moveTo>
                  <a:lnTo>
                    <a:pt x="594868" y="0"/>
                  </a:lnTo>
                  <a:lnTo>
                    <a:pt x="594868" y="594868"/>
                  </a:lnTo>
                  <a:lnTo>
                    <a:pt x="0" y="594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7" b="6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372638" y="8450847"/>
            <a:ext cx="16471659" cy="4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The final step loops back to the first, turning a one-time scan into an ongoing habit.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95026" cy="12519279"/>
            </a:xfrm>
            <a:custGeom>
              <a:avLst/>
              <a:gdLst/>
              <a:ahLst/>
              <a:cxnLst/>
              <a:rect r="r" b="b" t="t" l="l"/>
              <a:pathLst>
                <a:path h="12519279" w="23195026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250" t="0" r="-19250" b="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72638" y="1372676"/>
            <a:ext cx="9516866" cy="27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108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PRODUCT + PLATFORM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2638" y="1813960"/>
            <a:ext cx="8601780" cy="106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8"/>
              </a:lnSpc>
            </a:pPr>
            <a:r>
              <a:rPr lang="en-US" b="true" sz="4203" spc="-84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What it does, and what powers it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72638" y="3248330"/>
            <a:ext cx="1075058" cy="104708"/>
            <a:chOff x="0" y="0"/>
            <a:chExt cx="1433411" cy="1396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3449" cy="139700"/>
            </a:xfrm>
            <a:custGeom>
              <a:avLst/>
              <a:gdLst/>
              <a:ahLst/>
              <a:cxnLst/>
              <a:rect r="r" b="b" t="t" l="l"/>
              <a:pathLst>
                <a:path h="139700" w="1433449">
                  <a:moveTo>
                    <a:pt x="0" y="69850"/>
                  </a:moveTo>
                  <a:cubicBezTo>
                    <a:pt x="0" y="31242"/>
                    <a:pt x="31242" y="0"/>
                    <a:pt x="69850" y="0"/>
                  </a:cubicBezTo>
                  <a:lnTo>
                    <a:pt x="1363599" y="0"/>
                  </a:lnTo>
                  <a:cubicBezTo>
                    <a:pt x="1402207" y="0"/>
                    <a:pt x="1433449" y="31242"/>
                    <a:pt x="1433449" y="69850"/>
                  </a:cubicBezTo>
                  <a:cubicBezTo>
                    <a:pt x="1433449" y="108458"/>
                    <a:pt x="1402207" y="139700"/>
                    <a:pt x="1363599" y="139700"/>
                  </a:cubicBezTo>
                  <a:lnTo>
                    <a:pt x="69850" y="139700"/>
                  </a:lnTo>
                  <a:cubicBezTo>
                    <a:pt x="31242" y="139573"/>
                    <a:pt x="0" y="108331"/>
                    <a:pt x="0" y="69850"/>
                  </a:cubicBezTo>
                  <a:close/>
                </a:path>
              </a:pathLst>
            </a:custGeom>
            <a:solidFill>
              <a:srgbClr val="0F9D9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2638" y="3594183"/>
            <a:ext cx="629126" cy="629145"/>
            <a:chOff x="0" y="0"/>
            <a:chExt cx="838835" cy="83886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-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16328" y="3648732"/>
            <a:ext cx="3242739" cy="8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AI selfie skin analysis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787838" y="3594183"/>
            <a:ext cx="629126" cy="629145"/>
            <a:chOff x="0" y="0"/>
            <a:chExt cx="838835" cy="83886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-3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731527" y="3648732"/>
            <a:ext cx="3242891" cy="174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Personalized recommendations from Joyory’s catalog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72638" y="5521376"/>
            <a:ext cx="629126" cy="629145"/>
            <a:chOff x="0" y="0"/>
            <a:chExt cx="838835" cy="83886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1" b="-3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316328" y="5575925"/>
            <a:ext cx="3242739" cy="132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Ingredient-conflict-aware routine builder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787838" y="5521376"/>
            <a:ext cx="629126" cy="629145"/>
            <a:chOff x="0" y="0"/>
            <a:chExt cx="838835" cy="83886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1" b="-3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731527" y="5575925"/>
            <a:ext cx="3242891" cy="8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Conversational AI Beauty Concierge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72638" y="7023925"/>
            <a:ext cx="629126" cy="629145"/>
            <a:chOff x="0" y="0"/>
            <a:chExt cx="838835" cy="83886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-1" b="-3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316328" y="7078475"/>
            <a:ext cx="7658090" cy="8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Usage-based reorder nudges and progress tracking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889504" y="457562"/>
            <a:ext cx="6954793" cy="9379925"/>
            <a:chOff x="0" y="0"/>
            <a:chExt cx="9273057" cy="1250656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73032" cy="12506452"/>
            </a:xfrm>
            <a:custGeom>
              <a:avLst/>
              <a:gdLst/>
              <a:ahLst/>
              <a:cxnLst/>
              <a:rect r="r" b="b" t="t" l="l"/>
              <a:pathLst>
                <a:path h="12506452" w="9273032">
                  <a:moveTo>
                    <a:pt x="0" y="629031"/>
                  </a:moveTo>
                  <a:cubicBezTo>
                    <a:pt x="0" y="281686"/>
                    <a:pt x="281686" y="0"/>
                    <a:pt x="629031" y="0"/>
                  </a:cubicBezTo>
                  <a:lnTo>
                    <a:pt x="8644001" y="0"/>
                  </a:lnTo>
                  <a:cubicBezTo>
                    <a:pt x="8991473" y="0"/>
                    <a:pt x="9273032" y="281686"/>
                    <a:pt x="9273032" y="629031"/>
                  </a:cubicBezTo>
                  <a:lnTo>
                    <a:pt x="9273032" y="11877422"/>
                  </a:lnTo>
                  <a:cubicBezTo>
                    <a:pt x="9273032" y="12224893"/>
                    <a:pt x="8991346" y="12506452"/>
                    <a:pt x="8644001" y="12506452"/>
                  </a:cubicBezTo>
                  <a:lnTo>
                    <a:pt x="629031" y="12506452"/>
                  </a:lnTo>
                  <a:cubicBezTo>
                    <a:pt x="281686" y="12506579"/>
                    <a:pt x="0" y="12224893"/>
                    <a:pt x="0" y="11877548"/>
                  </a:cubicBezTo>
                  <a:close/>
                </a:path>
              </a:pathLst>
            </a:custGeom>
            <a:solidFill>
              <a:srgbClr val="D0FBFA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308928" y="3278562"/>
            <a:ext cx="6535369" cy="27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108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TECH STACK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308928" y="3643655"/>
            <a:ext cx="6115955" cy="103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Built as a sequential agent pipeline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08928" y="4845653"/>
            <a:ext cx="6115955" cy="217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Gemini Vision API</a:t>
            </a:r>
          </a:p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Django/FastAPI with Gemini and Groq rotation</a:t>
            </a:r>
          </a:p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React</a:t>
            </a:r>
          </a:p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OAuth and Razorpay-style checkout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95026" cy="12519279"/>
            </a:xfrm>
            <a:custGeom>
              <a:avLst/>
              <a:gdLst/>
              <a:ahLst/>
              <a:cxnLst/>
              <a:rect r="r" b="b" t="t" l="l"/>
              <a:pathLst>
                <a:path h="12519279" w="23195026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250" t="0" r="-19250" b="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72638" y="1372676"/>
            <a:ext cx="16471659" cy="27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108">
                <a:solidFill>
                  <a:srgbClr val="03625F"/>
                </a:solidFill>
                <a:latin typeface="Montserrat"/>
                <a:ea typeface="Montserrat"/>
                <a:cs typeface="Montserrat"/>
                <a:sym typeface="Montserrat"/>
              </a:rPr>
              <a:t>THE DIFFERENCE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2638" y="1813960"/>
            <a:ext cx="15556563" cy="50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8"/>
              </a:lnSpc>
            </a:pPr>
            <a:r>
              <a:rPr lang="en-US" b="true" sz="4203" spc="-84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Most skin-scanner apps stop at diagnosis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2638" y="2569331"/>
            <a:ext cx="16471659" cy="4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Joyory turns diagnosis into a retention engine.</a:t>
            </a: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372638" y="3308504"/>
          <a:ext cx="15518824" cy="3622330"/>
        </p:xfrm>
        <a:graphic>
          <a:graphicData uri="http://schemas.openxmlformats.org/drawingml/2006/table">
            <a:tbl>
              <a:tblPr/>
              <a:tblGrid>
                <a:gridCol w="7759412"/>
                <a:gridCol w="7759412"/>
              </a:tblGrid>
              <a:tr h="7262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2E3C4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Typical skin-scanner app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Joyory AI Beauty Concierge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FFD"/>
                    </a:solidFill>
                  </a:tcPr>
                </a:tc>
              </a:tr>
              <a:tr h="7262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38465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Single ML model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Five specialized agents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FFD"/>
                    </a:solidFill>
                  </a:tcPr>
                </a:tc>
              </a:tr>
              <a:tr h="7262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38465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One-time scan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Progress tracking every 2–3 weeks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FFD"/>
                    </a:solidFill>
                  </a:tcPr>
                </a:tc>
              </a:tr>
              <a:tr h="7262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38465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Generic product suggestions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Real catalog plus conflict-aware routines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FFD"/>
                    </a:solidFill>
                  </a:tcPr>
                </a:tc>
              </a:tr>
              <a:tr h="7173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38465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 follow-up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Usage-tied reorder nudges</a:t>
                      </a:r>
                      <a:endParaRPr lang="en-US" sz="1100"/>
                    </a:p>
                  </a:txBody>
                  <a:tcPr marL="152396" marR="152396" marT="152396" marB="152396" anchor="ctr">
                    <a:lnL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5B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F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95026" cy="12519279"/>
            </a:xfrm>
            <a:custGeom>
              <a:avLst/>
              <a:gdLst/>
              <a:ahLst/>
              <a:cxnLst/>
              <a:rect r="r" b="b" t="t" l="l"/>
              <a:pathLst>
                <a:path h="12519279" w="23195026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250" t="0" r="-19250" b="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72638" y="1372676"/>
            <a:ext cx="16471659" cy="27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108">
                <a:solidFill>
                  <a:srgbClr val="1B3A3E"/>
                </a:solidFill>
                <a:latin typeface="Montserrat"/>
                <a:ea typeface="Montserrat"/>
                <a:cs typeface="Montserrat"/>
                <a:sym typeface="Montserrat"/>
              </a:rPr>
              <a:t>THE BUSINESS CASE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2638" y="1813960"/>
            <a:ext cx="15556563" cy="50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8"/>
              </a:lnSpc>
            </a:pPr>
            <a:r>
              <a:rPr lang="en-US" b="true" sz="4203" spc="-84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This isn’t a feature. It’s a revenue lever.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72638" y="2693213"/>
            <a:ext cx="1944567" cy="104708"/>
            <a:chOff x="0" y="0"/>
            <a:chExt cx="2592756" cy="1396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92832" cy="139700"/>
            </a:xfrm>
            <a:custGeom>
              <a:avLst/>
              <a:gdLst/>
              <a:ahLst/>
              <a:cxnLst/>
              <a:rect r="r" b="b" t="t" l="l"/>
              <a:pathLst>
                <a:path h="139700" w="2592832">
                  <a:moveTo>
                    <a:pt x="0" y="69850"/>
                  </a:moveTo>
                  <a:cubicBezTo>
                    <a:pt x="0" y="31242"/>
                    <a:pt x="31242" y="0"/>
                    <a:pt x="69850" y="0"/>
                  </a:cubicBezTo>
                  <a:lnTo>
                    <a:pt x="2522982" y="0"/>
                  </a:lnTo>
                  <a:cubicBezTo>
                    <a:pt x="2561590" y="0"/>
                    <a:pt x="2592832" y="31242"/>
                    <a:pt x="2592832" y="69850"/>
                  </a:cubicBezTo>
                  <a:cubicBezTo>
                    <a:pt x="2592832" y="108458"/>
                    <a:pt x="2561590" y="139700"/>
                    <a:pt x="2522982" y="139700"/>
                  </a:cubicBezTo>
                  <a:lnTo>
                    <a:pt x="69850" y="139700"/>
                  </a:lnTo>
                  <a:cubicBezTo>
                    <a:pt x="31242" y="139573"/>
                    <a:pt x="0" y="108331"/>
                    <a:pt x="0" y="69850"/>
                  </a:cubicBezTo>
                  <a:close/>
                </a:path>
              </a:pathLst>
            </a:custGeom>
            <a:solidFill>
              <a:srgbClr val="0F9D9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2638" y="3141240"/>
            <a:ext cx="4880496" cy="4338752"/>
            <a:chOff x="0" y="0"/>
            <a:chExt cx="6507328" cy="57850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07353" cy="5785104"/>
            </a:xfrm>
            <a:custGeom>
              <a:avLst/>
              <a:gdLst/>
              <a:ahLst/>
              <a:cxnLst/>
              <a:rect r="r" b="b" t="t" l="l"/>
              <a:pathLst>
                <a:path h="5785104" w="6507353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5878195" y="0"/>
                  </a:lnTo>
                  <a:cubicBezTo>
                    <a:pt x="6225667" y="0"/>
                    <a:pt x="6507353" y="281686"/>
                    <a:pt x="6507353" y="629158"/>
                  </a:cubicBezTo>
                  <a:lnTo>
                    <a:pt x="6507353" y="5155946"/>
                  </a:lnTo>
                  <a:cubicBezTo>
                    <a:pt x="6507353" y="5503418"/>
                    <a:pt x="6225667" y="5785104"/>
                    <a:pt x="5878195" y="5785104"/>
                  </a:cubicBezTo>
                  <a:lnTo>
                    <a:pt x="629158" y="5785104"/>
                  </a:lnTo>
                  <a:cubicBezTo>
                    <a:pt x="281686" y="5784977"/>
                    <a:pt x="0" y="5503291"/>
                    <a:pt x="0" y="5155946"/>
                  </a:cubicBezTo>
                  <a:close/>
                </a:path>
              </a:pathLst>
            </a:custGeom>
            <a:solidFill>
              <a:srgbClr val="E5FFFD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53924" y="3684461"/>
            <a:ext cx="4117915" cy="82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</a:pPr>
            <a:r>
              <a:rPr lang="en-US" b="true" sz="8106" spc="-28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53924" y="4653791"/>
            <a:ext cx="4117915" cy="531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Higher basket size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3924" y="5352507"/>
            <a:ext cx="4117915" cy="132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routine creates a multi-product purchase, not a single recommendation.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710677" y="3141240"/>
            <a:ext cx="4880496" cy="4338752"/>
            <a:chOff x="0" y="0"/>
            <a:chExt cx="6507328" cy="57850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07353" cy="5785104"/>
            </a:xfrm>
            <a:custGeom>
              <a:avLst/>
              <a:gdLst/>
              <a:ahLst/>
              <a:cxnLst/>
              <a:rect r="r" b="b" t="t" l="l"/>
              <a:pathLst>
                <a:path h="5785104" w="6507353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5878195" y="0"/>
                  </a:lnTo>
                  <a:cubicBezTo>
                    <a:pt x="6225667" y="0"/>
                    <a:pt x="6507353" y="281686"/>
                    <a:pt x="6507353" y="629158"/>
                  </a:cubicBezTo>
                  <a:lnTo>
                    <a:pt x="6507353" y="5155946"/>
                  </a:lnTo>
                  <a:cubicBezTo>
                    <a:pt x="6507353" y="5503418"/>
                    <a:pt x="6225667" y="5785104"/>
                    <a:pt x="5878195" y="5785104"/>
                  </a:cubicBezTo>
                  <a:lnTo>
                    <a:pt x="629158" y="5785104"/>
                  </a:lnTo>
                  <a:cubicBezTo>
                    <a:pt x="281686" y="5784977"/>
                    <a:pt x="0" y="5503291"/>
                    <a:pt x="0" y="5155946"/>
                  </a:cubicBezTo>
                  <a:close/>
                </a:path>
              </a:pathLst>
            </a:custGeom>
            <a:solidFill>
              <a:srgbClr val="E5FFFD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091963" y="3684461"/>
            <a:ext cx="4117915" cy="82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</a:pPr>
            <a:r>
              <a:rPr lang="en-US" b="true" sz="8106" spc="-28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91963" y="4653791"/>
            <a:ext cx="4117915" cy="531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Fewer returns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91963" y="5352507"/>
            <a:ext cx="4117915" cy="8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Better-fit products reduce wrong-first purchases.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48715" y="3141240"/>
            <a:ext cx="4880496" cy="4338752"/>
            <a:chOff x="0" y="0"/>
            <a:chExt cx="6507328" cy="57850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07353" cy="5785104"/>
            </a:xfrm>
            <a:custGeom>
              <a:avLst/>
              <a:gdLst/>
              <a:ahLst/>
              <a:cxnLst/>
              <a:rect r="r" b="b" t="t" l="l"/>
              <a:pathLst>
                <a:path h="5785104" w="6507353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5878195" y="0"/>
                  </a:lnTo>
                  <a:cubicBezTo>
                    <a:pt x="6225667" y="0"/>
                    <a:pt x="6507353" y="281686"/>
                    <a:pt x="6507353" y="629158"/>
                  </a:cubicBezTo>
                  <a:lnTo>
                    <a:pt x="6507353" y="5155946"/>
                  </a:lnTo>
                  <a:cubicBezTo>
                    <a:pt x="6507353" y="5503418"/>
                    <a:pt x="6225667" y="5785104"/>
                    <a:pt x="5878195" y="5785104"/>
                  </a:cubicBezTo>
                  <a:lnTo>
                    <a:pt x="629158" y="5785104"/>
                  </a:lnTo>
                  <a:cubicBezTo>
                    <a:pt x="281686" y="5784977"/>
                    <a:pt x="0" y="5503291"/>
                    <a:pt x="0" y="5155946"/>
                  </a:cubicBezTo>
                  <a:close/>
                </a:path>
              </a:pathLst>
            </a:custGeom>
            <a:solidFill>
              <a:srgbClr val="E5FFFD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430001" y="3684461"/>
            <a:ext cx="4117915" cy="82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</a:pPr>
            <a:r>
              <a:rPr lang="en-US" b="true" sz="8106" spc="-28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30001" y="4653791"/>
            <a:ext cx="4117915" cy="531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Recurring revenue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30001" y="5352507"/>
            <a:ext cx="4117915" cy="174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Reorder nudges create subscription-like behavior without requiring a subscription model.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2638" y="7699277"/>
            <a:ext cx="16471659" cy="4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Joyory becomes the most personalized beauty platform in its segment.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95026" cy="12519279"/>
            </a:xfrm>
            <a:custGeom>
              <a:avLst/>
              <a:gdLst/>
              <a:ahLst/>
              <a:cxnLst/>
              <a:rect r="r" b="b" t="t" l="l"/>
              <a:pathLst>
                <a:path h="12519279" w="23195026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250" t="0" r="-19250" b="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72638" y="1372676"/>
            <a:ext cx="16471659" cy="27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108">
                <a:solidFill>
                  <a:srgbClr val="03625F"/>
                </a:solidFill>
                <a:latin typeface="Montserrat"/>
                <a:ea typeface="Montserrat"/>
                <a:cs typeface="Montserrat"/>
                <a:sym typeface="Montserrat"/>
              </a:rPr>
              <a:t>THE BUILD PLAN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2638" y="1813960"/>
            <a:ext cx="15556563" cy="50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8"/>
              </a:lnSpc>
            </a:pPr>
            <a:r>
              <a:rPr lang="en-US" b="true" sz="4203" spc="-84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Built smart today, built to scale tomorrow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72638" y="2693213"/>
            <a:ext cx="15556563" cy="47511"/>
            <a:chOff x="0" y="0"/>
            <a:chExt cx="20742084" cy="633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742021" cy="63247"/>
            </a:xfrm>
            <a:custGeom>
              <a:avLst/>
              <a:gdLst/>
              <a:ahLst/>
              <a:cxnLst/>
              <a:rect r="r" b="b" t="t" l="l"/>
              <a:pathLst>
                <a:path h="63247" w="20742021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0710398" y="0"/>
                  </a:lnTo>
                  <a:cubicBezTo>
                    <a:pt x="20727924" y="0"/>
                    <a:pt x="20742021" y="14224"/>
                    <a:pt x="20742021" y="31623"/>
                  </a:cubicBezTo>
                  <a:cubicBezTo>
                    <a:pt x="20742021" y="49149"/>
                    <a:pt x="20727797" y="63246"/>
                    <a:pt x="20710398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75BAE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2638" y="3084043"/>
            <a:ext cx="6619227" cy="5899242"/>
            <a:chOff x="0" y="0"/>
            <a:chExt cx="8825636" cy="78656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25738" cy="7865745"/>
            </a:xfrm>
            <a:custGeom>
              <a:avLst/>
              <a:gdLst/>
              <a:ahLst/>
              <a:cxnLst/>
              <a:rect r="r" b="b" t="t" l="l"/>
              <a:pathLst>
                <a:path h="7865745" w="8825738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8196580" y="0"/>
                  </a:lnTo>
                  <a:cubicBezTo>
                    <a:pt x="8544052" y="0"/>
                    <a:pt x="8825738" y="281686"/>
                    <a:pt x="8825738" y="629158"/>
                  </a:cubicBezTo>
                  <a:lnTo>
                    <a:pt x="8825738" y="7236587"/>
                  </a:lnTo>
                  <a:cubicBezTo>
                    <a:pt x="8825738" y="7584059"/>
                    <a:pt x="8544052" y="7865745"/>
                    <a:pt x="8196580" y="7865745"/>
                  </a:cubicBezTo>
                  <a:lnTo>
                    <a:pt x="629158" y="7865745"/>
                  </a:lnTo>
                  <a:cubicBezTo>
                    <a:pt x="281686" y="7865618"/>
                    <a:pt x="0" y="7584059"/>
                    <a:pt x="0" y="7236587"/>
                  </a:cubicBezTo>
                  <a:close/>
                </a:path>
              </a:pathLst>
            </a:custGeom>
            <a:solidFill>
              <a:srgbClr val="EEEFF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72904" y="3384318"/>
            <a:ext cx="1282979" cy="487499"/>
            <a:chOff x="0" y="0"/>
            <a:chExt cx="1710639" cy="6499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10690" cy="649986"/>
            </a:xfrm>
            <a:custGeom>
              <a:avLst/>
              <a:gdLst/>
              <a:ahLst/>
              <a:cxnLst/>
              <a:rect r="r" b="b" t="t" l="l"/>
              <a:pathLst>
                <a:path h="649986" w="1710690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1385697" y="0"/>
                  </a:lnTo>
                  <a:cubicBezTo>
                    <a:pt x="1565148" y="0"/>
                    <a:pt x="1710690" y="145542"/>
                    <a:pt x="1710690" y="324993"/>
                  </a:cubicBezTo>
                  <a:cubicBezTo>
                    <a:pt x="1710690" y="504444"/>
                    <a:pt x="1565148" y="649986"/>
                    <a:pt x="1385697" y="649986"/>
                  </a:cubicBezTo>
                  <a:lnTo>
                    <a:pt x="324993" y="649986"/>
                  </a:lnTo>
                  <a:cubicBezTo>
                    <a:pt x="145542" y="649986"/>
                    <a:pt x="0" y="504444"/>
                    <a:pt x="0" y="324993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9" r="2" b="-1281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866376" y="3473844"/>
            <a:ext cx="1811122" cy="298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951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TODAY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7667" y="3957628"/>
            <a:ext cx="6009161" cy="531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Challenges solved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7667" y="4656344"/>
            <a:ext cx="6009161" cy="4021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612" indent="-224306" lvl="1">
              <a:lnSpc>
                <a:spcPts val="3358"/>
              </a:lnSpc>
              <a:buFont typeface="Arial"/>
              <a:buChar char="•"/>
            </a:pPr>
            <a:r>
              <a:rPr lang="en-US" sz="24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One-day build constraint → pre-trained Gemini Vision instead of a custom CNN.</a:t>
            </a:r>
          </a:p>
          <a:p>
            <a:pPr algn="l" marL="448612" indent="-224306" lvl="1">
              <a:lnSpc>
                <a:spcPts val="3358"/>
              </a:lnSpc>
              <a:buFont typeface="Arial"/>
              <a:buChar char="•"/>
            </a:pPr>
            <a:r>
              <a:rPr lang="en-US" sz="24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No live Joyory product API → representative seeded catalog from real storefront data.</a:t>
            </a:r>
          </a:p>
          <a:p>
            <a:pPr algn="l" marL="448612" indent="-224306" lvl="1">
              <a:lnSpc>
                <a:spcPts val="3358"/>
              </a:lnSpc>
              <a:buFont typeface="Arial"/>
              <a:buChar char="•"/>
            </a:pPr>
            <a:r>
              <a:rPr lang="en-US" sz="24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Unsafe skincare advice → hardcoded ingredient-conflict rules layered on LLM reasoning.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757571" y="3427209"/>
            <a:ext cx="786403" cy="786432"/>
            <a:chOff x="0" y="0"/>
            <a:chExt cx="1048537" cy="1048576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4" b="-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309831" y="3084043"/>
            <a:ext cx="6619370" cy="5899242"/>
            <a:chOff x="0" y="0"/>
            <a:chExt cx="8825827" cy="7865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825864" cy="7865745"/>
            </a:xfrm>
            <a:custGeom>
              <a:avLst/>
              <a:gdLst/>
              <a:ahLst/>
              <a:cxnLst/>
              <a:rect r="r" b="b" t="t" l="l"/>
              <a:pathLst>
                <a:path h="7865745" w="8825864">
                  <a:moveTo>
                    <a:pt x="0" y="629158"/>
                  </a:moveTo>
                  <a:cubicBezTo>
                    <a:pt x="0" y="281686"/>
                    <a:pt x="281686" y="0"/>
                    <a:pt x="629158" y="0"/>
                  </a:cubicBezTo>
                  <a:lnTo>
                    <a:pt x="8196707" y="0"/>
                  </a:lnTo>
                  <a:cubicBezTo>
                    <a:pt x="8544178" y="0"/>
                    <a:pt x="8825864" y="281686"/>
                    <a:pt x="8825864" y="629158"/>
                  </a:cubicBezTo>
                  <a:lnTo>
                    <a:pt x="8825864" y="7236587"/>
                  </a:lnTo>
                  <a:cubicBezTo>
                    <a:pt x="8825864" y="7584059"/>
                    <a:pt x="8544178" y="7865745"/>
                    <a:pt x="8196707" y="7865745"/>
                  </a:cubicBezTo>
                  <a:lnTo>
                    <a:pt x="629158" y="7865745"/>
                  </a:lnTo>
                  <a:cubicBezTo>
                    <a:pt x="281686" y="7865618"/>
                    <a:pt x="0" y="7584059"/>
                    <a:pt x="0" y="7236587"/>
                  </a:cubicBezTo>
                  <a:close/>
                </a:path>
              </a:pathLst>
            </a:custGeom>
            <a:solidFill>
              <a:srgbClr val="E5FFFD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610088" y="3384318"/>
            <a:ext cx="1097099" cy="487499"/>
            <a:chOff x="0" y="0"/>
            <a:chExt cx="1462799" cy="6499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2786" cy="649986"/>
            </a:xfrm>
            <a:custGeom>
              <a:avLst/>
              <a:gdLst/>
              <a:ahLst/>
              <a:cxnLst/>
              <a:rect r="r" b="b" t="t" l="l"/>
              <a:pathLst>
                <a:path h="649986" w="1462786">
                  <a:moveTo>
                    <a:pt x="0" y="324993"/>
                  </a:moveTo>
                  <a:cubicBezTo>
                    <a:pt x="0" y="145542"/>
                    <a:pt x="145542" y="0"/>
                    <a:pt x="324993" y="0"/>
                  </a:cubicBezTo>
                  <a:lnTo>
                    <a:pt x="1137793" y="0"/>
                  </a:lnTo>
                  <a:cubicBezTo>
                    <a:pt x="1317244" y="0"/>
                    <a:pt x="1462786" y="145542"/>
                    <a:pt x="1462786" y="324993"/>
                  </a:cubicBezTo>
                  <a:cubicBezTo>
                    <a:pt x="1462786" y="504444"/>
                    <a:pt x="1317244" y="649986"/>
                    <a:pt x="1137793" y="649986"/>
                  </a:cubicBezTo>
                  <a:lnTo>
                    <a:pt x="324993" y="649986"/>
                  </a:lnTo>
                  <a:cubicBezTo>
                    <a:pt x="145542" y="649986"/>
                    <a:pt x="0" y="504444"/>
                    <a:pt x="0" y="324993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12" t="0" r="-7012" b="-1"/>
              </a:stretch>
            </a:blipFill>
            <a:ln w="9532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0803569" y="3473844"/>
            <a:ext cx="1625241" cy="298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9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NEXT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14860" y="3957628"/>
            <a:ext cx="6009313" cy="531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Future scope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614860" y="4656344"/>
            <a:ext cx="6009313" cy="239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612" indent="-224306" lvl="1">
              <a:lnSpc>
                <a:spcPts val="3358"/>
              </a:lnSpc>
              <a:buFont typeface="Arial"/>
              <a:buChar char="•"/>
            </a:pPr>
            <a:r>
              <a:rPr lang="en-US" sz="2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AR makeup try-on</a:t>
            </a:r>
          </a:p>
          <a:p>
            <a:pPr algn="l" marL="448612" indent="-224306" lvl="1">
              <a:lnSpc>
                <a:spcPts val="3358"/>
              </a:lnSpc>
              <a:buFont typeface="Arial"/>
              <a:buChar char="•"/>
            </a:pPr>
            <a:r>
              <a:rPr lang="en-US" sz="2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Dermatologist-reviewed validation</a:t>
            </a:r>
          </a:p>
          <a:p>
            <a:pPr algn="l" marL="448612" indent="-224306" lvl="1">
              <a:lnSpc>
                <a:spcPts val="3358"/>
              </a:lnSpc>
              <a:buFont typeface="Arial"/>
              <a:buChar char="•"/>
            </a:pPr>
            <a:r>
              <a:rPr lang="en-US" sz="2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Multilingual support for Tier-2/3 India</a:t>
            </a:r>
          </a:p>
          <a:p>
            <a:pPr algn="l" marL="448612" indent="-224306" lvl="1">
              <a:lnSpc>
                <a:spcPts val="3358"/>
              </a:lnSpc>
              <a:buFont typeface="Arial"/>
              <a:buChar char="•"/>
            </a:pPr>
            <a:r>
              <a:rPr lang="en-US" sz="24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Live inventory and order APIs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2780" y="452790"/>
            <a:ext cx="17396279" cy="9389459"/>
            <a:chOff x="0" y="0"/>
            <a:chExt cx="23195039" cy="12519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95026" cy="12519279"/>
            </a:xfrm>
            <a:custGeom>
              <a:avLst/>
              <a:gdLst/>
              <a:ahLst/>
              <a:cxnLst/>
              <a:rect r="r" b="b" t="t" l="l"/>
              <a:pathLst>
                <a:path h="12519279" w="23195026">
                  <a:moveTo>
                    <a:pt x="0" y="0"/>
                  </a:moveTo>
                  <a:lnTo>
                    <a:pt x="23195026" y="0"/>
                  </a:lnTo>
                  <a:lnTo>
                    <a:pt x="23195026" y="12519279"/>
                  </a:lnTo>
                  <a:lnTo>
                    <a:pt x="0" y="125192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250" t="0" r="-19250" b="0"/>
              </a:stretch>
            </a:blipFill>
            <a:ln w="9532" cap="sq">
              <a:solidFill>
                <a:srgbClr val="384653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084962" y="1372676"/>
            <a:ext cx="5046859" cy="27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spc="108">
                <a:solidFill>
                  <a:srgbClr val="03625F"/>
                </a:solidFill>
                <a:latin typeface="Montserrat"/>
                <a:ea typeface="Montserrat"/>
                <a:cs typeface="Montserrat"/>
                <a:sym typeface="Montserrat"/>
              </a:rPr>
              <a:t>JOYORY AI BEAUTY CONCIERGE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90040" y="1937785"/>
            <a:ext cx="11797808" cy="99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23"/>
              </a:lnSpc>
            </a:pPr>
            <a:r>
              <a:rPr lang="en-US" b="true" sz="9607" spc="-336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Not a skin scanner.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2638" y="3375993"/>
            <a:ext cx="15556563" cy="217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23"/>
              </a:lnSpc>
            </a:pPr>
            <a:r>
              <a:rPr lang="en-US" b="true" sz="9607" spc="-336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A retention engine for Joyory.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49447" y="5499516"/>
            <a:ext cx="6117888" cy="47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76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Disguised as a skincare assistant.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72638" y="6054966"/>
            <a:ext cx="15556563" cy="3203334"/>
            <a:chOff x="0" y="0"/>
            <a:chExt cx="20742084" cy="42711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742148" cy="4271163"/>
            </a:xfrm>
            <a:custGeom>
              <a:avLst/>
              <a:gdLst/>
              <a:ahLst/>
              <a:cxnLst/>
              <a:rect r="r" b="b" t="t" l="l"/>
              <a:pathLst>
                <a:path h="4271163" w="20742148">
                  <a:moveTo>
                    <a:pt x="0" y="1525645"/>
                  </a:moveTo>
                  <a:cubicBezTo>
                    <a:pt x="0" y="682941"/>
                    <a:pt x="225298" y="0"/>
                    <a:pt x="503301" y="0"/>
                  </a:cubicBezTo>
                  <a:lnTo>
                    <a:pt x="20238847" y="0"/>
                  </a:lnTo>
                  <a:cubicBezTo>
                    <a:pt x="20516850" y="0"/>
                    <a:pt x="20742148" y="682941"/>
                    <a:pt x="20742148" y="1525645"/>
                  </a:cubicBezTo>
                  <a:lnTo>
                    <a:pt x="20742148" y="2745621"/>
                  </a:lnTo>
                  <a:cubicBezTo>
                    <a:pt x="20742148" y="3588325"/>
                    <a:pt x="20516850" y="4271163"/>
                    <a:pt x="20238847" y="4271163"/>
                  </a:cubicBezTo>
                  <a:lnTo>
                    <a:pt x="503301" y="4271163"/>
                  </a:lnTo>
                  <a:cubicBezTo>
                    <a:pt x="225298" y="4271163"/>
                    <a:pt x="0" y="3587940"/>
                    <a:pt x="0" y="2745621"/>
                  </a:cubicBezTo>
                  <a:close/>
                </a:path>
              </a:pathLst>
            </a:custGeom>
            <a:solidFill>
              <a:srgbClr val="D0FBF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72638" y="6819128"/>
            <a:ext cx="15556563" cy="171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200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THANK YOU · CODERS</a:t>
            </a:r>
          </a:p>
          <a:p>
            <a:pPr algn="l">
              <a:lnSpc>
                <a:spcPts val="2304"/>
              </a:lnSpc>
            </a:pPr>
          </a:p>
          <a:p>
            <a:pPr algn="l">
              <a:lnSpc>
                <a:spcPts val="2304"/>
              </a:lnSpc>
            </a:pPr>
          </a:p>
          <a:p>
            <a:pPr algn="l">
              <a:lnSpc>
                <a:spcPts val="2304"/>
              </a:lnSpc>
            </a:pPr>
            <a:r>
              <a:rPr lang="en-US" sz="200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CONTACT: DAKSHBHAVSAR3699@GMAIL.COM </a:t>
            </a:r>
          </a:p>
          <a:p>
            <a:pPr algn="l">
              <a:lnSpc>
                <a:spcPts val="2304"/>
              </a:lnSpc>
            </a:pPr>
          </a:p>
          <a:p>
            <a:pPr algn="l">
              <a:lnSpc>
                <a:spcPts val="2304"/>
              </a:lnSpc>
            </a:pPr>
            <a:r>
              <a:rPr lang="en-US" sz="200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· PROJECT: HTTPS://GITHUB.COM/YUVRAJGITACC/JOYORY-HOME-DESIGN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oyory_workflow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DAHVt3dsbfY</dc:identifier>
  <dcterms:modified xsi:type="dcterms:W3CDTF">2011-08-01T06:04:30Z</dcterms:modified>
  <cp:revision>1</cp:revision>
  <dc:title>Joyory-AI-Beauty-Concierge (1).pptx</dc:title>
</cp:coreProperties>
</file>