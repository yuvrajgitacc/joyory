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8288000" cy="10287000"/>
  <p:notesSz cx="6858000" cy="9144000"/>
  <p:embeddedFontLst>
    <p:embeddedFont>
      <p:font typeface="Montserrat" panose="00000500000000000000"/>
      <p:regular r:id="rId17"/>
    </p:embeddedFont>
    <p:embeddedFont>
      <p:font typeface="Arimo Bold" panose="020B0704020202020204"/>
      <p:bold r:id="rId18"/>
    </p:embeddedFont>
    <p:embeddedFont>
      <p:font typeface="Arimo" panose="020B0604020202020204"/>
      <p:regular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195026" cy="12519279"/>
            </a:xfrm>
            <a:custGeom>
              <a:avLst/>
              <a:gdLst/>
              <a:ahLst/>
              <a:cxnLst/>
              <a:rect l="l" t="t" r="r" b="b"/>
              <a:pathLst>
                <a:path w="23195026" h="12519279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50" r="-1925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372638" y="1372676"/>
            <a:ext cx="9516866" cy="274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08">
                <a:solidFill>
                  <a:srgbClr val="03625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B.TECH HACKATHON 2026 · TASK 02</a:t>
            </a:r>
            <a:endParaRPr lang="en-US" sz="1800" spc="108">
              <a:solidFill>
                <a:srgbClr val="03625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72638" y="1861585"/>
            <a:ext cx="8601780" cy="3354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0"/>
              </a:lnSpc>
            </a:pPr>
            <a:r>
              <a:rPr lang="en-US" sz="8705" b="1" spc="-174">
                <a:solidFill>
                  <a:srgbClr val="2E3C4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Joyory AI</a:t>
            </a:r>
            <a:endParaRPr lang="en-US" sz="8705" b="1" spc="-174">
              <a:solidFill>
                <a:srgbClr val="2E3C4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  <a:p>
            <a:pPr algn="l">
              <a:lnSpc>
                <a:spcPts val="9090"/>
              </a:lnSpc>
            </a:pPr>
            <a:r>
              <a:rPr lang="en-US" sz="8705" b="1" spc="-174">
                <a:solidFill>
                  <a:srgbClr val="2E3C4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Beauty Concierge</a:t>
            </a:r>
            <a:endParaRPr lang="en-US" sz="8705" b="1" spc="-174">
              <a:solidFill>
                <a:srgbClr val="2E3C4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48838" y="5644725"/>
            <a:ext cx="8525580" cy="1814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80"/>
              </a:lnSpc>
            </a:pPr>
            <a:r>
              <a:rPr lang="en-US" sz="8105" b="1" spc="-283">
                <a:solidFill>
                  <a:srgbClr val="2E3C4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Diagnose. Guide. Retain.</a:t>
            </a:r>
            <a:endParaRPr lang="en-US" sz="8105" b="1" spc="-283">
              <a:solidFill>
                <a:srgbClr val="2E3C4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72638" y="7707173"/>
            <a:ext cx="8601780" cy="89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An AI shopping assistant disguised as a skincare scanner.</a:t>
            </a:r>
            <a:endParaRPr lang="en-US" sz="24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1372638" y="8870985"/>
            <a:ext cx="4467034" cy="477964"/>
            <a:chOff x="0" y="0"/>
            <a:chExt cx="5956046" cy="63728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56046" cy="637286"/>
            </a:xfrm>
            <a:custGeom>
              <a:avLst/>
              <a:gdLst/>
              <a:ahLst/>
              <a:cxnLst/>
              <a:rect l="l" t="t" r="r" b="b"/>
              <a:pathLst>
                <a:path w="5956046" h="637286">
                  <a:moveTo>
                    <a:pt x="0" y="318643"/>
                  </a:moveTo>
                  <a:cubicBezTo>
                    <a:pt x="0" y="142621"/>
                    <a:pt x="142621" y="0"/>
                    <a:pt x="318643" y="0"/>
                  </a:cubicBezTo>
                  <a:lnTo>
                    <a:pt x="5637403" y="0"/>
                  </a:lnTo>
                  <a:cubicBezTo>
                    <a:pt x="5813425" y="0"/>
                    <a:pt x="5956046" y="142621"/>
                    <a:pt x="5956046" y="318643"/>
                  </a:cubicBezTo>
                  <a:cubicBezTo>
                    <a:pt x="5956046" y="494665"/>
                    <a:pt x="5813425" y="637286"/>
                    <a:pt x="5637403" y="637286"/>
                  </a:cubicBezTo>
                  <a:lnTo>
                    <a:pt x="318643" y="637286"/>
                  </a:lnTo>
                  <a:cubicBezTo>
                    <a:pt x="142621" y="637286"/>
                    <a:pt x="0" y="494665"/>
                    <a:pt x="0" y="318643"/>
                  </a:cubicBezTo>
                  <a:close/>
                </a:path>
              </a:pathLst>
            </a:custGeom>
            <a:solidFill>
              <a:srgbClr val="D0FBFA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561348" y="8955738"/>
            <a:ext cx="5004711" cy="298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950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SMART SHOPPING EXPERIENCE</a:t>
            </a:r>
            <a:endParaRPr lang="en-US" sz="1950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15" name="Group 15"/>
          <p:cNvGrpSpPr/>
          <p:nvPr/>
        </p:nvGrpSpPr>
        <p:grpSpPr>
          <a:xfrm rot="0">
            <a:off x="10889504" y="457562"/>
            <a:ext cx="6954793" cy="9806502"/>
            <a:chOff x="0" y="0"/>
            <a:chExt cx="9273057" cy="1307533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273032" cy="13075286"/>
            </a:xfrm>
            <a:custGeom>
              <a:avLst/>
              <a:gdLst/>
              <a:ahLst/>
              <a:cxnLst/>
              <a:rect l="l" t="t" r="r" b="b"/>
              <a:pathLst>
                <a:path w="9273032" h="13075286">
                  <a:moveTo>
                    <a:pt x="0" y="629031"/>
                  </a:moveTo>
                  <a:cubicBezTo>
                    <a:pt x="0" y="281686"/>
                    <a:pt x="281686" y="0"/>
                    <a:pt x="629031" y="0"/>
                  </a:cubicBezTo>
                  <a:lnTo>
                    <a:pt x="8644001" y="0"/>
                  </a:lnTo>
                  <a:cubicBezTo>
                    <a:pt x="8991473" y="0"/>
                    <a:pt x="9273032" y="281686"/>
                    <a:pt x="9273032" y="629031"/>
                  </a:cubicBezTo>
                  <a:lnTo>
                    <a:pt x="9273032" y="12446254"/>
                  </a:lnTo>
                  <a:cubicBezTo>
                    <a:pt x="9273032" y="12793726"/>
                    <a:pt x="8991346" y="13075286"/>
                    <a:pt x="8644001" y="13075286"/>
                  </a:cubicBezTo>
                  <a:lnTo>
                    <a:pt x="629031" y="13075286"/>
                  </a:lnTo>
                  <a:cubicBezTo>
                    <a:pt x="281686" y="13075286"/>
                    <a:pt x="0" y="12793726"/>
                    <a:pt x="0" y="12446254"/>
                  </a:cubicBezTo>
                  <a:close/>
                </a:path>
              </a:pathLst>
            </a:custGeom>
            <a:solidFill>
              <a:srgbClr val="EEEFF5"/>
            </a:solidFill>
          </p:spPr>
        </p:sp>
      </p:grpSp>
      <p:grpSp>
        <p:nvGrpSpPr>
          <p:cNvPr id="17" name="Group 17"/>
          <p:cNvGrpSpPr/>
          <p:nvPr/>
        </p:nvGrpSpPr>
        <p:grpSpPr>
          <a:xfrm rot="0">
            <a:off x="11003890" y="571948"/>
            <a:ext cx="6726012" cy="9577730"/>
            <a:chOff x="0" y="0"/>
            <a:chExt cx="8968016" cy="12770307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8967978" cy="12770358"/>
            </a:xfrm>
            <a:custGeom>
              <a:avLst/>
              <a:gdLst/>
              <a:ahLst/>
              <a:cxnLst/>
              <a:rect l="l" t="t" r="r" b="b"/>
              <a:pathLst>
                <a:path w="8967978" h="12770358">
                  <a:moveTo>
                    <a:pt x="0" y="0"/>
                  </a:moveTo>
                  <a:lnTo>
                    <a:pt x="8967978" y="0"/>
                  </a:lnTo>
                  <a:lnTo>
                    <a:pt x="8967978" y="12770358"/>
                  </a:lnTo>
                  <a:lnTo>
                    <a:pt x="0" y="12770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1" r="-5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195026" cy="12519279"/>
            </a:xfrm>
            <a:custGeom>
              <a:avLst/>
              <a:gdLst/>
              <a:ahLst/>
              <a:cxnLst/>
              <a:rect l="l" t="t" r="r" b="b"/>
              <a:pathLst>
                <a:path w="23195026" h="12519279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50" r="-1925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372638" y="1420301"/>
            <a:ext cx="15556563" cy="50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0"/>
              </a:lnSpc>
            </a:pPr>
            <a:r>
              <a:rPr lang="en-US" sz="4205" b="1" spc="-84">
                <a:solidFill>
                  <a:srgbClr val="2E3C4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Beauty shopping online is broken in three ways</a:t>
            </a:r>
            <a:endParaRPr lang="en-US" sz="4205" b="1" spc="-84">
              <a:solidFill>
                <a:srgbClr val="2E3C4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1372638" y="2299554"/>
            <a:ext cx="1944567" cy="104708"/>
            <a:chOff x="0" y="0"/>
            <a:chExt cx="2592756" cy="1396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92832" cy="139700"/>
            </a:xfrm>
            <a:custGeom>
              <a:avLst/>
              <a:gdLst/>
              <a:ahLst/>
              <a:cxnLst/>
              <a:rect l="l" t="t" r="r" b="b"/>
              <a:pathLst>
                <a:path w="2592832" h="139700">
                  <a:moveTo>
                    <a:pt x="0" y="69850"/>
                  </a:moveTo>
                  <a:cubicBezTo>
                    <a:pt x="0" y="31242"/>
                    <a:pt x="31242" y="0"/>
                    <a:pt x="69850" y="0"/>
                  </a:cubicBezTo>
                  <a:lnTo>
                    <a:pt x="2522982" y="0"/>
                  </a:lnTo>
                  <a:cubicBezTo>
                    <a:pt x="2561590" y="0"/>
                    <a:pt x="2592832" y="31242"/>
                    <a:pt x="2592832" y="69850"/>
                  </a:cubicBezTo>
                  <a:cubicBezTo>
                    <a:pt x="2592832" y="108458"/>
                    <a:pt x="2561590" y="139700"/>
                    <a:pt x="2522982" y="139700"/>
                  </a:cubicBezTo>
                  <a:lnTo>
                    <a:pt x="69850" y="139700"/>
                  </a:lnTo>
                  <a:cubicBezTo>
                    <a:pt x="31242" y="139573"/>
                    <a:pt x="0" y="108331"/>
                    <a:pt x="0" y="69850"/>
                  </a:cubicBezTo>
                  <a:close/>
                </a:path>
              </a:pathLst>
            </a:custGeom>
            <a:solidFill>
              <a:srgbClr val="0F9D9A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1372638" y="2747581"/>
            <a:ext cx="4880496" cy="4563961"/>
            <a:chOff x="0" y="0"/>
            <a:chExt cx="6507328" cy="60852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507353" cy="6085332"/>
            </a:xfrm>
            <a:custGeom>
              <a:avLst/>
              <a:gdLst/>
              <a:ahLst/>
              <a:cxnLst/>
              <a:rect l="l" t="t" r="r" b="b"/>
              <a:pathLst>
                <a:path w="6507353" h="6085332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5878195" y="0"/>
                  </a:lnTo>
                  <a:cubicBezTo>
                    <a:pt x="6225667" y="0"/>
                    <a:pt x="6507353" y="281686"/>
                    <a:pt x="6507353" y="629158"/>
                  </a:cubicBezTo>
                  <a:lnTo>
                    <a:pt x="6507353" y="5456174"/>
                  </a:lnTo>
                  <a:cubicBezTo>
                    <a:pt x="6507353" y="5803646"/>
                    <a:pt x="6225667" y="6085332"/>
                    <a:pt x="5878195" y="6085332"/>
                  </a:cubicBezTo>
                  <a:lnTo>
                    <a:pt x="629158" y="6085332"/>
                  </a:lnTo>
                  <a:cubicBezTo>
                    <a:pt x="281686" y="6085332"/>
                    <a:pt x="0" y="5803646"/>
                    <a:pt x="0" y="5456174"/>
                  </a:cubicBezTo>
                  <a:close/>
                </a:path>
              </a:pathLst>
            </a:custGeom>
            <a:solidFill>
              <a:srgbClr val="C0F3F1"/>
            </a:solidFill>
          </p:spPr>
        </p:sp>
      </p:grpSp>
      <p:grpSp>
        <p:nvGrpSpPr>
          <p:cNvPr id="13" name="Group 13"/>
          <p:cNvGrpSpPr/>
          <p:nvPr/>
        </p:nvGrpSpPr>
        <p:grpSpPr>
          <a:xfrm rot="0">
            <a:off x="1715795" y="3090748"/>
            <a:ext cx="786403" cy="786432"/>
            <a:chOff x="0" y="0"/>
            <a:chExt cx="1048537" cy="1048576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048512" cy="1048512"/>
            </a:xfrm>
            <a:custGeom>
              <a:avLst/>
              <a:gdLst/>
              <a:ahLst/>
              <a:cxnLst/>
              <a:rect l="l" t="t" r="r" b="b"/>
              <a:pathLst>
                <a:path w="1048512" h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4" b="-6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715795" y="4020179"/>
            <a:ext cx="4194172" cy="53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5"/>
              </a:lnSpc>
            </a:pPr>
            <a:r>
              <a:rPr lang="en-US" sz="330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Discovery friction</a:t>
            </a:r>
            <a:endParaRPr lang="en-US" sz="3300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15795" y="4718895"/>
            <a:ext cx="4194172" cy="2170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Hundreds of SKUs across Foxtale, Plum, Dr Sheth’s, Aqualogica, and more leave shoppers unsure what fits their skin.</a:t>
            </a:r>
            <a:endParaRPr lang="en-US" sz="2475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17" name="Group 17"/>
          <p:cNvGrpSpPr/>
          <p:nvPr/>
        </p:nvGrpSpPr>
        <p:grpSpPr>
          <a:xfrm rot="0">
            <a:off x="6710677" y="2747581"/>
            <a:ext cx="4880496" cy="4563961"/>
            <a:chOff x="0" y="0"/>
            <a:chExt cx="6507328" cy="608528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507353" cy="6085332"/>
            </a:xfrm>
            <a:custGeom>
              <a:avLst/>
              <a:gdLst/>
              <a:ahLst/>
              <a:cxnLst/>
              <a:rect l="l" t="t" r="r" b="b"/>
              <a:pathLst>
                <a:path w="6507353" h="6085332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5878195" y="0"/>
                  </a:lnTo>
                  <a:cubicBezTo>
                    <a:pt x="6225667" y="0"/>
                    <a:pt x="6507353" y="281686"/>
                    <a:pt x="6507353" y="629158"/>
                  </a:cubicBezTo>
                  <a:lnTo>
                    <a:pt x="6507353" y="5456174"/>
                  </a:lnTo>
                  <a:cubicBezTo>
                    <a:pt x="6507353" y="5803646"/>
                    <a:pt x="6225667" y="6085332"/>
                    <a:pt x="5878195" y="6085332"/>
                  </a:cubicBezTo>
                  <a:lnTo>
                    <a:pt x="629158" y="6085332"/>
                  </a:lnTo>
                  <a:cubicBezTo>
                    <a:pt x="281686" y="6085332"/>
                    <a:pt x="0" y="5803646"/>
                    <a:pt x="0" y="5456174"/>
                  </a:cubicBezTo>
                  <a:close/>
                </a:path>
              </a:pathLst>
            </a:custGeom>
            <a:solidFill>
              <a:srgbClr val="C0F3F1"/>
            </a:solidFill>
          </p:spPr>
        </p:sp>
      </p:grpSp>
      <p:grpSp>
        <p:nvGrpSpPr>
          <p:cNvPr id="19" name="Group 19"/>
          <p:cNvGrpSpPr/>
          <p:nvPr/>
        </p:nvGrpSpPr>
        <p:grpSpPr>
          <a:xfrm rot="0">
            <a:off x="7053834" y="3090748"/>
            <a:ext cx="786403" cy="786432"/>
            <a:chOff x="0" y="0"/>
            <a:chExt cx="1048537" cy="1048576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048512" cy="1048512"/>
            </a:xfrm>
            <a:custGeom>
              <a:avLst/>
              <a:gdLst/>
              <a:ahLst/>
              <a:cxnLst/>
              <a:rect l="l" t="t" r="r" b="b"/>
              <a:pathLst>
                <a:path w="1048512" h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4" b="-6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7053834" y="4020179"/>
            <a:ext cx="4194172" cy="1035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5"/>
              </a:lnSpc>
            </a:pPr>
            <a:r>
              <a:rPr lang="en-US" sz="330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Understanding friction</a:t>
            </a:r>
            <a:endParaRPr lang="en-US" sz="3300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053834" y="5222177"/>
            <a:ext cx="4194172" cy="1746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Niacinamide, Retinol, and Alpha Arbutin rarely translate into confident choices.</a:t>
            </a:r>
            <a:endParaRPr lang="en-US" sz="2475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23" name="Group 23"/>
          <p:cNvGrpSpPr/>
          <p:nvPr/>
        </p:nvGrpSpPr>
        <p:grpSpPr>
          <a:xfrm rot="0">
            <a:off x="12048715" y="2747581"/>
            <a:ext cx="4880496" cy="4563961"/>
            <a:chOff x="0" y="0"/>
            <a:chExt cx="6507328" cy="608528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507353" cy="6085332"/>
            </a:xfrm>
            <a:custGeom>
              <a:avLst/>
              <a:gdLst/>
              <a:ahLst/>
              <a:cxnLst/>
              <a:rect l="l" t="t" r="r" b="b"/>
              <a:pathLst>
                <a:path w="6507353" h="6085332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5878195" y="0"/>
                  </a:lnTo>
                  <a:cubicBezTo>
                    <a:pt x="6225667" y="0"/>
                    <a:pt x="6507353" y="281686"/>
                    <a:pt x="6507353" y="629158"/>
                  </a:cubicBezTo>
                  <a:lnTo>
                    <a:pt x="6507353" y="5456174"/>
                  </a:lnTo>
                  <a:cubicBezTo>
                    <a:pt x="6507353" y="5803646"/>
                    <a:pt x="6225667" y="6085332"/>
                    <a:pt x="5878195" y="6085332"/>
                  </a:cubicBezTo>
                  <a:lnTo>
                    <a:pt x="629158" y="6085332"/>
                  </a:lnTo>
                  <a:cubicBezTo>
                    <a:pt x="281686" y="6085332"/>
                    <a:pt x="0" y="5803646"/>
                    <a:pt x="0" y="5456174"/>
                  </a:cubicBezTo>
                  <a:close/>
                </a:path>
              </a:pathLst>
            </a:custGeom>
            <a:solidFill>
              <a:srgbClr val="C0F3F1"/>
            </a:solidFill>
          </p:spPr>
        </p:sp>
      </p:grpSp>
      <p:grpSp>
        <p:nvGrpSpPr>
          <p:cNvPr id="25" name="Group 25"/>
          <p:cNvGrpSpPr/>
          <p:nvPr/>
        </p:nvGrpSpPr>
        <p:grpSpPr>
          <a:xfrm rot="0">
            <a:off x="12391873" y="3090748"/>
            <a:ext cx="786403" cy="786432"/>
            <a:chOff x="0" y="0"/>
            <a:chExt cx="1048537" cy="1048576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1048512" cy="1048512"/>
            </a:xfrm>
            <a:custGeom>
              <a:avLst/>
              <a:gdLst/>
              <a:ahLst/>
              <a:cxnLst/>
              <a:rect l="l" t="t" r="r" b="b"/>
              <a:pathLst>
                <a:path w="1048512" h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r="-4" b="-6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12391873" y="4020179"/>
            <a:ext cx="4194172" cy="1035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5"/>
              </a:lnSpc>
            </a:pPr>
            <a:r>
              <a:rPr lang="en-US" sz="330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Engagement friction</a:t>
            </a:r>
            <a:endParaRPr lang="en-US" sz="3300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391873" y="5222177"/>
            <a:ext cx="4194172" cy="89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Once a product runs out, the relationship ends.</a:t>
            </a:r>
            <a:endParaRPr lang="en-US" sz="2475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72638" y="7568917"/>
            <a:ext cx="16471659" cy="295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 spc="36">
                <a:solidFill>
                  <a:srgbClr val="38465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Joyory already signals demand with planned Smart Beauty Quiz, AI Beauty Concierge, and Skincare Routine Builder features.</a:t>
            </a:r>
            <a:endParaRPr lang="en-US" sz="1800" spc="36">
              <a:solidFill>
                <a:srgbClr val="38465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195026" cy="12519279"/>
            </a:xfrm>
            <a:custGeom>
              <a:avLst/>
              <a:gdLst/>
              <a:ahLst/>
              <a:cxnLst/>
              <a:rect l="l" t="t" r="r" b="b"/>
              <a:pathLst>
                <a:path w="23195026" h="12519279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50" r="-1925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372638" y="1372676"/>
            <a:ext cx="8113843" cy="274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08">
                <a:solidFill>
                  <a:srgbClr val="38465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THE GROWTH LOOP</a:t>
            </a:r>
            <a:endParaRPr lang="en-US" sz="1800" spc="108">
              <a:solidFill>
                <a:srgbClr val="38465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72638" y="1880635"/>
            <a:ext cx="7198757" cy="3106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40"/>
              </a:lnSpc>
            </a:pPr>
            <a:r>
              <a:rPr lang="en-US" sz="6605" b="1" spc="-231">
                <a:solidFill>
                  <a:srgbClr val="2E3C4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One AI assistant.</a:t>
            </a:r>
            <a:endParaRPr lang="en-US" sz="6605" b="1" spc="-231">
              <a:solidFill>
                <a:srgbClr val="2E3C4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  <a:p>
            <a:pPr algn="l">
              <a:lnSpc>
                <a:spcPts val="6340"/>
              </a:lnSpc>
            </a:pPr>
            <a:r>
              <a:rPr lang="en-US" sz="6605" b="1" spc="-231">
                <a:solidFill>
                  <a:srgbClr val="2E3C4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Five specialized agents.</a:t>
            </a:r>
            <a:endParaRPr lang="en-US" sz="6605" b="1" spc="-231">
              <a:solidFill>
                <a:srgbClr val="2E3C4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48838" y="5282594"/>
            <a:ext cx="7122557" cy="44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0"/>
              </a:lnSpc>
            </a:pPr>
            <a:r>
              <a:rPr lang="en-US" sz="3600" b="1" spc="-72">
                <a:solidFill>
                  <a:srgbClr val="2E3C4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One growth loop.</a:t>
            </a:r>
            <a:endParaRPr lang="en-US" sz="3600" b="1" spc="-72">
              <a:solidFill>
                <a:srgbClr val="2E3C4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72638" y="5977623"/>
            <a:ext cx="7198757" cy="1746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Embedded into Joyory, the assistant scans a selfie, diagnoses skin, recommends real catalog products, builds a safe routine, and brings the customer back for reorders.</a:t>
            </a:r>
            <a:endParaRPr lang="en-US" sz="24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72638" y="7981198"/>
            <a:ext cx="8113843" cy="295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 spc="36">
                <a:solidFill>
                  <a:srgbClr val="38465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One product can cover Task 1, Task 2, and Task 3 together.</a:t>
            </a:r>
            <a:endParaRPr lang="en-US" sz="1800" spc="36">
              <a:solidFill>
                <a:srgbClr val="38465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13" name="Group 13"/>
          <p:cNvGrpSpPr/>
          <p:nvPr/>
        </p:nvGrpSpPr>
        <p:grpSpPr>
          <a:xfrm rot="0">
            <a:off x="9890560" y="2929147"/>
            <a:ext cx="8007058" cy="4436755"/>
            <a:chOff x="0" y="0"/>
            <a:chExt cx="10676077" cy="5915673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0676128" cy="5915660"/>
            </a:xfrm>
            <a:custGeom>
              <a:avLst/>
              <a:gdLst/>
              <a:ahLst/>
              <a:cxnLst/>
              <a:rect l="l" t="t" r="r" b="b"/>
              <a:pathLst>
                <a:path w="10676128" h="5915660">
                  <a:moveTo>
                    <a:pt x="0" y="0"/>
                  </a:moveTo>
                  <a:lnTo>
                    <a:pt x="10676128" y="0"/>
                  </a:lnTo>
                  <a:lnTo>
                    <a:pt x="10676128" y="5915660"/>
                  </a:lnTo>
                  <a:lnTo>
                    <a:pt x="0" y="5915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12" b="-113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3120745" y="4526128"/>
            <a:ext cx="1690802" cy="480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 spc="-30">
                <a:solidFill>
                  <a:srgbClr val="FFFFFF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AI Beauty Concierge</a:t>
            </a:r>
            <a:endParaRPr lang="en-US" sz="1500" b="1" spc="-30">
              <a:solidFill>
                <a:srgbClr val="FFFFFF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120745" y="5062585"/>
            <a:ext cx="1690802" cy="60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5"/>
              </a:lnSpc>
            </a:pPr>
            <a:r>
              <a:rPr lang="en-US" sz="112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Central assistant powering the growth loop</a:t>
            </a:r>
            <a:endParaRPr lang="en-US" sz="1125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470442" y="3303613"/>
            <a:ext cx="1947034" cy="249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 spc="-30">
                <a:solidFill>
                  <a:srgbClr val="FFFFFF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Acquire</a:t>
            </a:r>
            <a:endParaRPr lang="en-US" sz="1500" b="1" spc="-30">
              <a:solidFill>
                <a:srgbClr val="FFFFFF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470442" y="3609537"/>
            <a:ext cx="1947034" cy="41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5"/>
              </a:lnSpc>
            </a:pPr>
            <a:r>
              <a:rPr lang="en-US" sz="112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Free AI skin diagnosis draws customers in.</a:t>
            </a:r>
            <a:endParaRPr lang="en-US" sz="1125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578890" y="4705455"/>
            <a:ext cx="1947034" cy="249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 spc="-30">
                <a:solidFill>
                  <a:srgbClr val="FFFFFF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Engage</a:t>
            </a:r>
            <a:endParaRPr lang="en-US" sz="1500" b="1" spc="-30">
              <a:solidFill>
                <a:srgbClr val="FFFFFF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5578890" y="5011379"/>
            <a:ext cx="1947034" cy="60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5"/>
              </a:lnSpc>
            </a:pPr>
            <a:r>
              <a:rPr lang="en-US" sz="112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Personalized routine and ingredient guidance build trust.</a:t>
            </a:r>
            <a:endParaRPr lang="en-US" sz="1125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246243" y="5842473"/>
            <a:ext cx="1947034" cy="249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 spc="-30">
                <a:solidFill>
                  <a:srgbClr val="FFFFFF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Monetize</a:t>
            </a:r>
            <a:endParaRPr lang="en-US" sz="1500" b="1" spc="-30">
              <a:solidFill>
                <a:srgbClr val="FFFFFF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246243" y="6148397"/>
            <a:ext cx="1947034" cy="60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5"/>
              </a:lnSpc>
            </a:pPr>
            <a:r>
              <a:rPr lang="en-US" sz="112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Reorder nudges and progress tracking drive repeat revenue.</a:t>
            </a:r>
            <a:endParaRPr lang="en-US" sz="1125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195026" cy="12519279"/>
            </a:xfrm>
            <a:custGeom>
              <a:avLst/>
              <a:gdLst/>
              <a:ahLst/>
              <a:cxnLst/>
              <a:rect l="l" t="t" r="r" b="b"/>
              <a:pathLst>
                <a:path w="23195026" h="12519279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50" r="-1925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372638" y="1372676"/>
            <a:ext cx="16471659" cy="274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08">
                <a:solidFill>
                  <a:srgbClr val="0F9D9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THE AGENT SYSTEM</a:t>
            </a:r>
            <a:endParaRPr lang="en-US" sz="1800" spc="108">
              <a:solidFill>
                <a:srgbClr val="0F9D9A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72638" y="1813960"/>
            <a:ext cx="15556563" cy="50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0"/>
              </a:lnSpc>
            </a:pPr>
            <a:r>
              <a:rPr lang="en-US" sz="4205" b="1" spc="-84">
                <a:solidFill>
                  <a:srgbClr val="2E3C4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Five agents, one seamless experience</a:t>
            </a:r>
            <a:endParaRPr lang="en-US" sz="4205" b="1" spc="-84">
              <a:solidFill>
                <a:srgbClr val="2E3C4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1372638" y="2693213"/>
            <a:ext cx="1944567" cy="104708"/>
            <a:chOff x="0" y="0"/>
            <a:chExt cx="2592756" cy="1396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92832" cy="139700"/>
            </a:xfrm>
            <a:custGeom>
              <a:avLst/>
              <a:gdLst/>
              <a:ahLst/>
              <a:cxnLst/>
              <a:rect l="l" t="t" r="r" b="b"/>
              <a:pathLst>
                <a:path w="2592832" h="139700">
                  <a:moveTo>
                    <a:pt x="0" y="69850"/>
                  </a:moveTo>
                  <a:cubicBezTo>
                    <a:pt x="0" y="31242"/>
                    <a:pt x="31242" y="0"/>
                    <a:pt x="69850" y="0"/>
                  </a:cubicBezTo>
                  <a:lnTo>
                    <a:pt x="2522982" y="0"/>
                  </a:lnTo>
                  <a:cubicBezTo>
                    <a:pt x="2561590" y="0"/>
                    <a:pt x="2592832" y="31242"/>
                    <a:pt x="2592832" y="69850"/>
                  </a:cubicBezTo>
                  <a:cubicBezTo>
                    <a:pt x="2592832" y="108458"/>
                    <a:pt x="2561590" y="139700"/>
                    <a:pt x="2522982" y="139700"/>
                  </a:cubicBezTo>
                  <a:lnTo>
                    <a:pt x="69850" y="139700"/>
                  </a:lnTo>
                  <a:cubicBezTo>
                    <a:pt x="31242" y="139573"/>
                    <a:pt x="0" y="108331"/>
                    <a:pt x="0" y="69850"/>
                  </a:cubicBezTo>
                  <a:close/>
                </a:path>
              </a:pathLst>
            </a:custGeom>
            <a:solidFill>
              <a:srgbClr val="0F9D9A"/>
            </a:solidFill>
          </p:spPr>
        </p:sp>
      </p:grpSp>
      <p:grpSp>
        <p:nvGrpSpPr>
          <p:cNvPr id="12" name="Group 12"/>
          <p:cNvGrpSpPr/>
          <p:nvPr/>
        </p:nvGrpSpPr>
        <p:grpSpPr>
          <a:xfrm rot="0">
            <a:off x="1372638" y="3613099"/>
            <a:ext cx="2928328" cy="4756842"/>
            <a:chOff x="0" y="0"/>
            <a:chExt cx="3904437" cy="63424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04488" cy="6342507"/>
            </a:xfrm>
            <a:custGeom>
              <a:avLst/>
              <a:gdLst/>
              <a:ahLst/>
              <a:cxnLst/>
              <a:rect l="l" t="t" r="r" b="b"/>
              <a:pathLst>
                <a:path w="3904488" h="6342507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3275330" y="0"/>
                  </a:lnTo>
                  <a:cubicBezTo>
                    <a:pt x="3622802" y="0"/>
                    <a:pt x="3904488" y="281686"/>
                    <a:pt x="3904488" y="629158"/>
                  </a:cubicBezTo>
                  <a:lnTo>
                    <a:pt x="3904488" y="5713349"/>
                  </a:lnTo>
                  <a:cubicBezTo>
                    <a:pt x="3904488" y="6060821"/>
                    <a:pt x="3622802" y="6342507"/>
                    <a:pt x="3275330" y="6342507"/>
                  </a:cubicBezTo>
                  <a:lnTo>
                    <a:pt x="629158" y="6342507"/>
                  </a:lnTo>
                  <a:cubicBezTo>
                    <a:pt x="281686" y="6342507"/>
                    <a:pt x="0" y="6060821"/>
                    <a:pt x="0" y="5713349"/>
                  </a:cubicBezTo>
                  <a:close/>
                </a:path>
              </a:pathLst>
            </a:custGeom>
            <a:solidFill>
              <a:srgbClr val="D0FBFA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715795" y="4409065"/>
            <a:ext cx="2242004" cy="430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E3C4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Vision</a:t>
            </a:r>
            <a:endParaRPr lang="en-US" sz="2700">
              <a:solidFill>
                <a:srgbClr val="2E3C4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15795" y="5006654"/>
            <a:ext cx="2242004" cy="1746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Selfie → skin type, concerns, severity.</a:t>
            </a:r>
            <a:endParaRPr lang="en-US" sz="24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4529585" y="3613099"/>
            <a:ext cx="2928471" cy="4756842"/>
            <a:chOff x="0" y="0"/>
            <a:chExt cx="3904628" cy="63424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904615" cy="6342507"/>
            </a:xfrm>
            <a:custGeom>
              <a:avLst/>
              <a:gdLst/>
              <a:ahLst/>
              <a:cxnLst/>
              <a:rect l="l" t="t" r="r" b="b"/>
              <a:pathLst>
                <a:path w="3904615" h="6342507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3275457" y="0"/>
                  </a:lnTo>
                  <a:cubicBezTo>
                    <a:pt x="3622929" y="0"/>
                    <a:pt x="3904615" y="281686"/>
                    <a:pt x="3904615" y="629158"/>
                  </a:cubicBezTo>
                  <a:lnTo>
                    <a:pt x="3904615" y="5713349"/>
                  </a:lnTo>
                  <a:cubicBezTo>
                    <a:pt x="3904615" y="6060821"/>
                    <a:pt x="3622929" y="6342507"/>
                    <a:pt x="3275457" y="6342507"/>
                  </a:cubicBezTo>
                  <a:lnTo>
                    <a:pt x="629158" y="6342507"/>
                  </a:lnTo>
                  <a:cubicBezTo>
                    <a:pt x="281686" y="6342507"/>
                    <a:pt x="0" y="6060821"/>
                    <a:pt x="0" y="5713349"/>
                  </a:cubicBezTo>
                  <a:close/>
                </a:path>
              </a:pathLst>
            </a:custGeom>
            <a:solidFill>
              <a:srgbClr val="D0FBFA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4872742" y="4409065"/>
            <a:ext cx="2242156" cy="430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E3C4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Match</a:t>
            </a:r>
            <a:endParaRPr lang="en-US" sz="2700">
              <a:solidFill>
                <a:srgbClr val="2E3C4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872742" y="5006654"/>
            <a:ext cx="2242156" cy="2595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Diagnosis → real Joyory products by ingredient, skin type, budget.</a:t>
            </a:r>
            <a:endParaRPr lang="en-US" sz="24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20" name="Group 20"/>
          <p:cNvGrpSpPr/>
          <p:nvPr/>
        </p:nvGrpSpPr>
        <p:grpSpPr>
          <a:xfrm rot="0">
            <a:off x="7686685" y="3613099"/>
            <a:ext cx="2928328" cy="4756842"/>
            <a:chOff x="0" y="0"/>
            <a:chExt cx="3904437" cy="63424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904488" cy="6342507"/>
            </a:xfrm>
            <a:custGeom>
              <a:avLst/>
              <a:gdLst/>
              <a:ahLst/>
              <a:cxnLst/>
              <a:rect l="l" t="t" r="r" b="b"/>
              <a:pathLst>
                <a:path w="3904488" h="6342507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3275330" y="0"/>
                  </a:lnTo>
                  <a:cubicBezTo>
                    <a:pt x="3622802" y="0"/>
                    <a:pt x="3904488" y="281686"/>
                    <a:pt x="3904488" y="629158"/>
                  </a:cubicBezTo>
                  <a:lnTo>
                    <a:pt x="3904488" y="5713349"/>
                  </a:lnTo>
                  <a:cubicBezTo>
                    <a:pt x="3904488" y="6060821"/>
                    <a:pt x="3622802" y="6342507"/>
                    <a:pt x="3275330" y="6342507"/>
                  </a:cubicBezTo>
                  <a:lnTo>
                    <a:pt x="629158" y="6342507"/>
                  </a:lnTo>
                  <a:cubicBezTo>
                    <a:pt x="281686" y="6342507"/>
                    <a:pt x="0" y="6060821"/>
                    <a:pt x="0" y="5713349"/>
                  </a:cubicBezTo>
                  <a:close/>
                </a:path>
              </a:pathLst>
            </a:custGeom>
            <a:solidFill>
              <a:srgbClr val="D0FBFA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8029842" y="4409065"/>
            <a:ext cx="2242004" cy="430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E3C4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Routine</a:t>
            </a:r>
            <a:endParaRPr lang="en-US" sz="2700">
              <a:solidFill>
                <a:srgbClr val="2E3C4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029842" y="5006654"/>
            <a:ext cx="2242004" cy="3020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AM/PM routine with conflict checks, including Retinol + Vitamin C.</a:t>
            </a:r>
            <a:endParaRPr lang="en-US" sz="24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24" name="Group 24"/>
          <p:cNvGrpSpPr/>
          <p:nvPr/>
        </p:nvGrpSpPr>
        <p:grpSpPr>
          <a:xfrm rot="0">
            <a:off x="10843631" y="3613099"/>
            <a:ext cx="2928471" cy="4756842"/>
            <a:chOff x="0" y="0"/>
            <a:chExt cx="3904628" cy="634245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04615" cy="6342507"/>
            </a:xfrm>
            <a:custGeom>
              <a:avLst/>
              <a:gdLst/>
              <a:ahLst/>
              <a:cxnLst/>
              <a:rect l="l" t="t" r="r" b="b"/>
              <a:pathLst>
                <a:path w="3904615" h="6342507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3275457" y="0"/>
                  </a:lnTo>
                  <a:cubicBezTo>
                    <a:pt x="3622929" y="0"/>
                    <a:pt x="3904615" y="281686"/>
                    <a:pt x="3904615" y="629158"/>
                  </a:cubicBezTo>
                  <a:lnTo>
                    <a:pt x="3904615" y="5713349"/>
                  </a:lnTo>
                  <a:cubicBezTo>
                    <a:pt x="3904615" y="6060821"/>
                    <a:pt x="3622929" y="6342507"/>
                    <a:pt x="3275457" y="6342507"/>
                  </a:cubicBezTo>
                  <a:lnTo>
                    <a:pt x="629158" y="6342507"/>
                  </a:lnTo>
                  <a:cubicBezTo>
                    <a:pt x="281686" y="6342507"/>
                    <a:pt x="0" y="6060821"/>
                    <a:pt x="0" y="5713349"/>
                  </a:cubicBezTo>
                  <a:close/>
                </a:path>
              </a:pathLst>
            </a:custGeom>
            <a:solidFill>
              <a:srgbClr val="D0FBFA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1186789" y="4409065"/>
            <a:ext cx="2242156" cy="430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E3C4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Retention</a:t>
            </a:r>
            <a:endParaRPr lang="en-US" sz="2700">
              <a:solidFill>
                <a:srgbClr val="2E3C4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186789" y="5006654"/>
            <a:ext cx="2242156" cy="3020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Usage estimate → reorder nudge; illustrative 30ml serum ≈ 45 days.</a:t>
            </a:r>
            <a:endParaRPr lang="en-US" sz="24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28" name="Group 28"/>
          <p:cNvGrpSpPr/>
          <p:nvPr/>
        </p:nvGrpSpPr>
        <p:grpSpPr>
          <a:xfrm rot="0">
            <a:off x="14000731" y="3613099"/>
            <a:ext cx="2928328" cy="4756842"/>
            <a:chOff x="0" y="0"/>
            <a:chExt cx="3904437" cy="634245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904488" cy="6342507"/>
            </a:xfrm>
            <a:custGeom>
              <a:avLst/>
              <a:gdLst/>
              <a:ahLst/>
              <a:cxnLst/>
              <a:rect l="l" t="t" r="r" b="b"/>
              <a:pathLst>
                <a:path w="3904488" h="6342507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3275330" y="0"/>
                  </a:lnTo>
                  <a:cubicBezTo>
                    <a:pt x="3622802" y="0"/>
                    <a:pt x="3904488" y="281686"/>
                    <a:pt x="3904488" y="629158"/>
                  </a:cubicBezTo>
                  <a:lnTo>
                    <a:pt x="3904488" y="5713349"/>
                  </a:lnTo>
                  <a:cubicBezTo>
                    <a:pt x="3904488" y="6060821"/>
                    <a:pt x="3622802" y="6342507"/>
                    <a:pt x="3275330" y="6342507"/>
                  </a:cubicBezTo>
                  <a:lnTo>
                    <a:pt x="629158" y="6342507"/>
                  </a:lnTo>
                  <a:cubicBezTo>
                    <a:pt x="281686" y="6342507"/>
                    <a:pt x="0" y="6060821"/>
                    <a:pt x="0" y="5713349"/>
                  </a:cubicBezTo>
                  <a:close/>
                </a:path>
              </a:pathLst>
            </a:custGeom>
            <a:solidFill>
              <a:srgbClr val="D0FBFA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14343888" y="4409065"/>
            <a:ext cx="224200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altLang="en-US" sz="2700">
                <a:solidFill>
                  <a:srgbClr val="2E3C4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Safety Agent</a:t>
            </a:r>
            <a:endParaRPr lang="en-US" altLang="en-US" sz="2700">
              <a:solidFill>
                <a:srgbClr val="2E3C4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249400" y="4963795"/>
            <a:ext cx="2928620" cy="2585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altLang="en-US" sz="24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Cross-references active chemicals against pharmacological rules matrix to prevent clashes</a:t>
            </a:r>
            <a:endParaRPr lang="en-US" altLang="en-US" sz="24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32" name="Group 32"/>
          <p:cNvGrpSpPr/>
          <p:nvPr/>
        </p:nvGrpSpPr>
        <p:grpSpPr>
          <a:xfrm rot="0">
            <a:off x="2355352" y="3131706"/>
            <a:ext cx="962749" cy="962777"/>
            <a:chOff x="0" y="0"/>
            <a:chExt cx="1283665" cy="128370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83716" cy="1283716"/>
            </a:xfrm>
            <a:custGeom>
              <a:avLst/>
              <a:gdLst/>
              <a:ahLst/>
              <a:cxnLst/>
              <a:rect l="l" t="t" r="r" b="b"/>
              <a:pathLst>
                <a:path w="1283716" h="1283716">
                  <a:moveTo>
                    <a:pt x="0" y="641858"/>
                  </a:moveTo>
                  <a:cubicBezTo>
                    <a:pt x="0" y="287401"/>
                    <a:pt x="287401" y="0"/>
                    <a:pt x="641858" y="0"/>
                  </a:cubicBezTo>
                  <a:cubicBezTo>
                    <a:pt x="996315" y="0"/>
                    <a:pt x="1283716" y="287401"/>
                    <a:pt x="1283716" y="641858"/>
                  </a:cubicBezTo>
                  <a:cubicBezTo>
                    <a:pt x="1283716" y="996315"/>
                    <a:pt x="996315" y="1283716"/>
                    <a:pt x="641858" y="1283716"/>
                  </a:cubicBezTo>
                  <a:cubicBezTo>
                    <a:pt x="287401" y="1283716"/>
                    <a:pt x="0" y="996315"/>
                    <a:pt x="0" y="641858"/>
                  </a:cubicBezTo>
                  <a:close/>
                </a:path>
              </a:pathLst>
            </a:custGeom>
            <a:solidFill>
              <a:srgbClr val="0F9D9A"/>
            </a:solidFill>
            <a:ln w="19065" cap="sq">
              <a:solidFill>
                <a:srgbClr val="B6E1E0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 rot="0">
            <a:off x="2600801" y="3377165"/>
            <a:ext cx="471840" cy="471859"/>
            <a:chOff x="0" y="0"/>
            <a:chExt cx="629120" cy="629145"/>
          </a:xfrm>
        </p:grpSpPr>
        <p:sp>
          <p:nvSpPr>
            <p:cNvPr id="35" name="Freeform 35" descr="preencoded.png"/>
            <p:cNvSpPr/>
            <p:nvPr/>
          </p:nvSpPr>
          <p:spPr>
            <a:xfrm>
              <a:off x="0" y="0"/>
              <a:ext cx="629158" cy="629158"/>
            </a:xfrm>
            <a:custGeom>
              <a:avLst/>
              <a:gdLst/>
              <a:ahLst/>
              <a:cxnLst/>
              <a:rect l="l" t="t" r="r" b="b"/>
              <a:pathLst>
                <a:path w="629158" h="629158">
                  <a:moveTo>
                    <a:pt x="0" y="0"/>
                  </a:moveTo>
                  <a:lnTo>
                    <a:pt x="629158" y="0"/>
                  </a:lnTo>
                  <a:lnTo>
                    <a:pt x="629158" y="629158"/>
                  </a:lnTo>
                  <a:lnTo>
                    <a:pt x="0" y="629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3" b="2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 rot="0">
            <a:off x="5512441" y="3131706"/>
            <a:ext cx="962749" cy="962777"/>
            <a:chOff x="0" y="0"/>
            <a:chExt cx="1283665" cy="128370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83716" cy="1283716"/>
            </a:xfrm>
            <a:custGeom>
              <a:avLst/>
              <a:gdLst/>
              <a:ahLst/>
              <a:cxnLst/>
              <a:rect l="l" t="t" r="r" b="b"/>
              <a:pathLst>
                <a:path w="1283716" h="1283716">
                  <a:moveTo>
                    <a:pt x="0" y="641858"/>
                  </a:moveTo>
                  <a:cubicBezTo>
                    <a:pt x="0" y="287401"/>
                    <a:pt x="287401" y="0"/>
                    <a:pt x="641858" y="0"/>
                  </a:cubicBezTo>
                  <a:cubicBezTo>
                    <a:pt x="996315" y="0"/>
                    <a:pt x="1283716" y="287401"/>
                    <a:pt x="1283716" y="641858"/>
                  </a:cubicBezTo>
                  <a:cubicBezTo>
                    <a:pt x="1283716" y="996315"/>
                    <a:pt x="996315" y="1283716"/>
                    <a:pt x="641858" y="1283716"/>
                  </a:cubicBezTo>
                  <a:cubicBezTo>
                    <a:pt x="287401" y="1283716"/>
                    <a:pt x="0" y="996315"/>
                    <a:pt x="0" y="641858"/>
                  </a:cubicBezTo>
                  <a:close/>
                </a:path>
              </a:pathLst>
            </a:custGeom>
            <a:solidFill>
              <a:srgbClr val="0F9D9A"/>
            </a:solidFill>
            <a:ln w="19065" cap="sq">
              <a:solidFill>
                <a:srgbClr val="B6E1E0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 rot="0">
            <a:off x="5757901" y="3377165"/>
            <a:ext cx="471840" cy="471859"/>
            <a:chOff x="0" y="0"/>
            <a:chExt cx="629120" cy="629145"/>
          </a:xfrm>
        </p:grpSpPr>
        <p:sp>
          <p:nvSpPr>
            <p:cNvPr id="39" name="Freeform 39" descr="preencoded.png"/>
            <p:cNvSpPr/>
            <p:nvPr/>
          </p:nvSpPr>
          <p:spPr>
            <a:xfrm>
              <a:off x="0" y="0"/>
              <a:ext cx="629158" cy="629158"/>
            </a:xfrm>
            <a:custGeom>
              <a:avLst/>
              <a:gdLst/>
              <a:ahLst/>
              <a:cxnLst/>
              <a:rect l="l" t="t" r="r" b="b"/>
              <a:pathLst>
                <a:path w="629158" h="629158">
                  <a:moveTo>
                    <a:pt x="0" y="0"/>
                  </a:moveTo>
                  <a:lnTo>
                    <a:pt x="629158" y="0"/>
                  </a:lnTo>
                  <a:lnTo>
                    <a:pt x="629158" y="629158"/>
                  </a:lnTo>
                  <a:lnTo>
                    <a:pt x="0" y="629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3" b="2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 rot="0">
            <a:off x="8669398" y="3131706"/>
            <a:ext cx="962749" cy="962777"/>
            <a:chOff x="0" y="0"/>
            <a:chExt cx="1283665" cy="128370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83716" cy="1283716"/>
            </a:xfrm>
            <a:custGeom>
              <a:avLst/>
              <a:gdLst/>
              <a:ahLst/>
              <a:cxnLst/>
              <a:rect l="l" t="t" r="r" b="b"/>
              <a:pathLst>
                <a:path w="1283716" h="1283716">
                  <a:moveTo>
                    <a:pt x="0" y="641858"/>
                  </a:moveTo>
                  <a:cubicBezTo>
                    <a:pt x="0" y="287401"/>
                    <a:pt x="287401" y="0"/>
                    <a:pt x="641858" y="0"/>
                  </a:cubicBezTo>
                  <a:cubicBezTo>
                    <a:pt x="996315" y="0"/>
                    <a:pt x="1283716" y="287401"/>
                    <a:pt x="1283716" y="641858"/>
                  </a:cubicBezTo>
                  <a:cubicBezTo>
                    <a:pt x="1283716" y="996315"/>
                    <a:pt x="996315" y="1283716"/>
                    <a:pt x="641858" y="1283716"/>
                  </a:cubicBezTo>
                  <a:cubicBezTo>
                    <a:pt x="287401" y="1283716"/>
                    <a:pt x="0" y="996315"/>
                    <a:pt x="0" y="641858"/>
                  </a:cubicBezTo>
                  <a:close/>
                </a:path>
              </a:pathLst>
            </a:custGeom>
            <a:solidFill>
              <a:srgbClr val="0F9D9A"/>
            </a:solidFill>
            <a:ln w="19065" cap="sq">
              <a:solidFill>
                <a:srgbClr val="B6E1E0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 rot="0">
            <a:off x="8914848" y="3377165"/>
            <a:ext cx="471840" cy="471859"/>
            <a:chOff x="0" y="0"/>
            <a:chExt cx="629120" cy="629145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629158" cy="629158"/>
            </a:xfrm>
            <a:custGeom>
              <a:avLst/>
              <a:gdLst/>
              <a:ahLst/>
              <a:cxnLst/>
              <a:rect l="l" t="t" r="r" b="b"/>
              <a:pathLst>
                <a:path w="629158" h="629158">
                  <a:moveTo>
                    <a:pt x="0" y="0"/>
                  </a:moveTo>
                  <a:lnTo>
                    <a:pt x="629158" y="0"/>
                  </a:lnTo>
                  <a:lnTo>
                    <a:pt x="629158" y="629158"/>
                  </a:lnTo>
                  <a:lnTo>
                    <a:pt x="0" y="629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r="3" b="2"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 rot="0">
            <a:off x="11826488" y="3131706"/>
            <a:ext cx="962749" cy="962777"/>
            <a:chOff x="0" y="0"/>
            <a:chExt cx="1283665" cy="128370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83716" cy="1283716"/>
            </a:xfrm>
            <a:custGeom>
              <a:avLst/>
              <a:gdLst/>
              <a:ahLst/>
              <a:cxnLst/>
              <a:rect l="l" t="t" r="r" b="b"/>
              <a:pathLst>
                <a:path w="1283716" h="1283716">
                  <a:moveTo>
                    <a:pt x="0" y="641858"/>
                  </a:moveTo>
                  <a:cubicBezTo>
                    <a:pt x="0" y="287401"/>
                    <a:pt x="287401" y="0"/>
                    <a:pt x="641858" y="0"/>
                  </a:cubicBezTo>
                  <a:cubicBezTo>
                    <a:pt x="996315" y="0"/>
                    <a:pt x="1283716" y="287401"/>
                    <a:pt x="1283716" y="641858"/>
                  </a:cubicBezTo>
                  <a:cubicBezTo>
                    <a:pt x="1283716" y="996315"/>
                    <a:pt x="996315" y="1283716"/>
                    <a:pt x="641858" y="1283716"/>
                  </a:cubicBezTo>
                  <a:cubicBezTo>
                    <a:pt x="287401" y="1283716"/>
                    <a:pt x="0" y="996315"/>
                    <a:pt x="0" y="641858"/>
                  </a:cubicBezTo>
                  <a:close/>
                </a:path>
              </a:pathLst>
            </a:custGeom>
            <a:solidFill>
              <a:srgbClr val="0F9D9A"/>
            </a:solidFill>
            <a:ln w="19065" cap="sq">
              <a:solidFill>
                <a:srgbClr val="B6E1E0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 rot="0">
            <a:off x="12071947" y="3377165"/>
            <a:ext cx="471840" cy="471859"/>
            <a:chOff x="0" y="0"/>
            <a:chExt cx="629120" cy="629145"/>
          </a:xfrm>
        </p:grpSpPr>
        <p:sp>
          <p:nvSpPr>
            <p:cNvPr id="47" name="Freeform 47" descr="preencoded.png"/>
            <p:cNvSpPr/>
            <p:nvPr/>
          </p:nvSpPr>
          <p:spPr>
            <a:xfrm>
              <a:off x="0" y="0"/>
              <a:ext cx="629158" cy="629158"/>
            </a:xfrm>
            <a:custGeom>
              <a:avLst/>
              <a:gdLst/>
              <a:ahLst/>
              <a:cxnLst/>
              <a:rect l="l" t="t" r="r" b="b"/>
              <a:pathLst>
                <a:path w="629158" h="629158">
                  <a:moveTo>
                    <a:pt x="0" y="0"/>
                  </a:moveTo>
                  <a:lnTo>
                    <a:pt x="629158" y="0"/>
                  </a:lnTo>
                  <a:lnTo>
                    <a:pt x="629158" y="629158"/>
                  </a:lnTo>
                  <a:lnTo>
                    <a:pt x="0" y="629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3" b="2"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 rot="0">
            <a:off x="14983444" y="3131706"/>
            <a:ext cx="962749" cy="962777"/>
            <a:chOff x="0" y="0"/>
            <a:chExt cx="1283665" cy="128370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283716" cy="1283716"/>
            </a:xfrm>
            <a:custGeom>
              <a:avLst/>
              <a:gdLst/>
              <a:ahLst/>
              <a:cxnLst/>
              <a:rect l="l" t="t" r="r" b="b"/>
              <a:pathLst>
                <a:path w="1283716" h="1283716">
                  <a:moveTo>
                    <a:pt x="0" y="641858"/>
                  </a:moveTo>
                  <a:cubicBezTo>
                    <a:pt x="0" y="287401"/>
                    <a:pt x="287401" y="0"/>
                    <a:pt x="641858" y="0"/>
                  </a:cubicBezTo>
                  <a:cubicBezTo>
                    <a:pt x="996315" y="0"/>
                    <a:pt x="1283716" y="287401"/>
                    <a:pt x="1283716" y="641858"/>
                  </a:cubicBezTo>
                  <a:cubicBezTo>
                    <a:pt x="1283716" y="996315"/>
                    <a:pt x="996315" y="1283716"/>
                    <a:pt x="641858" y="1283716"/>
                  </a:cubicBezTo>
                  <a:cubicBezTo>
                    <a:pt x="287401" y="1283716"/>
                    <a:pt x="0" y="996315"/>
                    <a:pt x="0" y="641858"/>
                  </a:cubicBezTo>
                  <a:close/>
                </a:path>
              </a:pathLst>
            </a:custGeom>
            <a:solidFill>
              <a:srgbClr val="0F9D9A"/>
            </a:solidFill>
            <a:ln w="19065" cap="sq">
              <a:solidFill>
                <a:srgbClr val="B6E1E0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 rot="0">
            <a:off x="15228894" y="3377165"/>
            <a:ext cx="471840" cy="471859"/>
            <a:chOff x="0" y="0"/>
            <a:chExt cx="629120" cy="629145"/>
          </a:xfrm>
        </p:grpSpPr>
        <p:sp>
          <p:nvSpPr>
            <p:cNvPr id="51" name="Freeform 51" descr="preencoded.png"/>
            <p:cNvSpPr/>
            <p:nvPr/>
          </p:nvSpPr>
          <p:spPr>
            <a:xfrm>
              <a:off x="0" y="0"/>
              <a:ext cx="629158" cy="629158"/>
            </a:xfrm>
            <a:custGeom>
              <a:avLst/>
              <a:gdLst/>
              <a:ahLst/>
              <a:cxnLst/>
              <a:rect l="l" t="t" r="r" b="b"/>
              <a:pathLst>
                <a:path w="629158" h="629158">
                  <a:moveTo>
                    <a:pt x="0" y="0"/>
                  </a:moveTo>
                  <a:lnTo>
                    <a:pt x="629158" y="0"/>
                  </a:lnTo>
                  <a:lnTo>
                    <a:pt x="629158" y="629158"/>
                  </a:lnTo>
                  <a:lnTo>
                    <a:pt x="0" y="629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r="3" b="2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195026" cy="12519279"/>
            </a:xfrm>
            <a:custGeom>
              <a:avLst/>
              <a:gdLst/>
              <a:ahLst/>
              <a:cxnLst/>
              <a:rect l="l" t="t" r="r" b="b"/>
              <a:pathLst>
                <a:path w="23195026" h="12519279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50" r="-1925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372638" y="1372676"/>
            <a:ext cx="16471659" cy="274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08">
                <a:solidFill>
                  <a:srgbClr val="38465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THE USER FLOW</a:t>
            </a:r>
            <a:endParaRPr lang="en-US" sz="1800" spc="108">
              <a:solidFill>
                <a:srgbClr val="38465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72638" y="1813960"/>
            <a:ext cx="15556563" cy="50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0"/>
              </a:lnSpc>
            </a:pPr>
            <a:r>
              <a:rPr lang="en-US" sz="4205" b="1" spc="-84">
                <a:solidFill>
                  <a:srgbClr val="2E3C4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From selfie to routine in seconds</a:t>
            </a:r>
            <a:endParaRPr lang="en-US" sz="4205" b="1" spc="-84">
              <a:solidFill>
                <a:srgbClr val="2E3C4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1372638" y="2693213"/>
            <a:ext cx="15556563" cy="47511"/>
            <a:chOff x="0" y="0"/>
            <a:chExt cx="20742084" cy="633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742021" cy="63247"/>
            </a:xfrm>
            <a:custGeom>
              <a:avLst/>
              <a:gdLst/>
              <a:ahLst/>
              <a:cxnLst/>
              <a:rect l="l" t="t" r="r" b="b"/>
              <a:pathLst>
                <a:path w="20742021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0710398" y="0"/>
                  </a:lnTo>
                  <a:cubicBezTo>
                    <a:pt x="20727924" y="0"/>
                    <a:pt x="20742021" y="14224"/>
                    <a:pt x="20742021" y="31623"/>
                  </a:cubicBezTo>
                  <a:cubicBezTo>
                    <a:pt x="20742021" y="49149"/>
                    <a:pt x="20727797" y="63246"/>
                    <a:pt x="20710398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75BAE6"/>
            </a:solidFill>
          </p:spPr>
        </p:sp>
      </p:grpSp>
      <p:grpSp>
        <p:nvGrpSpPr>
          <p:cNvPr id="12" name="Group 12"/>
          <p:cNvGrpSpPr/>
          <p:nvPr/>
        </p:nvGrpSpPr>
        <p:grpSpPr>
          <a:xfrm rot="0">
            <a:off x="3431591" y="3084043"/>
            <a:ext cx="11438649" cy="5147520"/>
            <a:chOff x="0" y="0"/>
            <a:chExt cx="15251532" cy="6863359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5251557" cy="6863334"/>
            </a:xfrm>
            <a:custGeom>
              <a:avLst/>
              <a:gdLst/>
              <a:ahLst/>
              <a:cxnLst/>
              <a:rect l="l" t="t" r="r" b="b"/>
              <a:pathLst>
                <a:path w="15251557" h="6863334">
                  <a:moveTo>
                    <a:pt x="0" y="0"/>
                  </a:moveTo>
                  <a:lnTo>
                    <a:pt x="15251557" y="0"/>
                  </a:lnTo>
                  <a:lnTo>
                    <a:pt x="15251557" y="6863334"/>
                  </a:lnTo>
                  <a:lnTo>
                    <a:pt x="0" y="6863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5151091" y="3171996"/>
            <a:ext cx="2005813" cy="34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175" b="1" spc="-43">
                <a:solidFill>
                  <a:srgbClr val="384653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Upload Selfie</a:t>
            </a:r>
            <a:endParaRPr lang="en-US" sz="2175" b="1" spc="-43">
              <a:solidFill>
                <a:srgbClr val="384653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151091" y="3601088"/>
            <a:ext cx="2005813" cy="572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Start with a clear portrait photo</a:t>
            </a:r>
            <a:endParaRPr lang="en-US" sz="15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5936656" y="4696939"/>
            <a:ext cx="446103" cy="446122"/>
            <a:chOff x="0" y="0"/>
            <a:chExt cx="594804" cy="59483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594868" cy="594868"/>
            </a:xfrm>
            <a:custGeom>
              <a:avLst/>
              <a:gdLst/>
              <a:ahLst/>
              <a:cxnLst/>
              <a:rect l="l" t="t" r="r" b="b"/>
              <a:pathLst>
                <a:path w="594868" h="594868">
                  <a:moveTo>
                    <a:pt x="0" y="0"/>
                  </a:moveTo>
                  <a:lnTo>
                    <a:pt x="594868" y="0"/>
                  </a:lnTo>
                  <a:lnTo>
                    <a:pt x="594868" y="594868"/>
                  </a:lnTo>
                  <a:lnTo>
                    <a:pt x="0" y="594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7" b="6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7129977" y="7038356"/>
            <a:ext cx="2017252" cy="34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175" b="1" spc="-43">
                <a:solidFill>
                  <a:srgbClr val="384653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AI Diagnosis</a:t>
            </a:r>
            <a:endParaRPr lang="en-US" sz="2175" b="1" spc="-43">
              <a:solidFill>
                <a:srgbClr val="384653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129977" y="7467448"/>
            <a:ext cx="2017252" cy="572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Analyze skin concerns and tone</a:t>
            </a:r>
            <a:endParaRPr lang="en-US" sz="15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20" name="Group 20"/>
          <p:cNvGrpSpPr/>
          <p:nvPr/>
        </p:nvGrpSpPr>
        <p:grpSpPr>
          <a:xfrm rot="0">
            <a:off x="7915542" y="6321266"/>
            <a:ext cx="446103" cy="446122"/>
            <a:chOff x="0" y="0"/>
            <a:chExt cx="594804" cy="594830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594868" cy="594868"/>
            </a:xfrm>
            <a:custGeom>
              <a:avLst/>
              <a:gdLst/>
              <a:ahLst/>
              <a:cxnLst/>
              <a:rect l="l" t="t" r="r" b="b"/>
              <a:pathLst>
                <a:path w="594868" h="594868">
                  <a:moveTo>
                    <a:pt x="0" y="0"/>
                  </a:moveTo>
                  <a:lnTo>
                    <a:pt x="594868" y="0"/>
                  </a:lnTo>
                  <a:lnTo>
                    <a:pt x="594868" y="594868"/>
                  </a:lnTo>
                  <a:lnTo>
                    <a:pt x="0" y="594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r="7" b="6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9097423" y="3131963"/>
            <a:ext cx="2005813" cy="34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175" b="1" spc="-43">
                <a:solidFill>
                  <a:srgbClr val="384653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Product Picks</a:t>
            </a:r>
            <a:endParaRPr lang="en-US" sz="2175" b="1" spc="-43">
              <a:solidFill>
                <a:srgbClr val="384653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097423" y="3561055"/>
            <a:ext cx="2005813" cy="572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Personalized skincare and tools</a:t>
            </a:r>
            <a:endParaRPr lang="en-US" sz="15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24" name="Group 24"/>
          <p:cNvGrpSpPr/>
          <p:nvPr/>
        </p:nvGrpSpPr>
        <p:grpSpPr>
          <a:xfrm rot="0">
            <a:off x="9905876" y="4651181"/>
            <a:ext cx="446103" cy="446122"/>
            <a:chOff x="0" y="0"/>
            <a:chExt cx="594804" cy="594830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594868" cy="594868"/>
            </a:xfrm>
            <a:custGeom>
              <a:avLst/>
              <a:gdLst/>
              <a:ahLst/>
              <a:cxnLst/>
              <a:rect l="l" t="t" r="r" b="b"/>
              <a:pathLst>
                <a:path w="594868" h="594868">
                  <a:moveTo>
                    <a:pt x="0" y="0"/>
                  </a:moveTo>
                  <a:lnTo>
                    <a:pt x="594868" y="0"/>
                  </a:lnTo>
                  <a:lnTo>
                    <a:pt x="594868" y="594868"/>
                  </a:lnTo>
                  <a:lnTo>
                    <a:pt x="0" y="594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7" b="6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11076308" y="7038356"/>
            <a:ext cx="2005813" cy="34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175" b="1" spc="-43">
                <a:solidFill>
                  <a:srgbClr val="384653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Daily Routine</a:t>
            </a:r>
            <a:endParaRPr lang="en-US" sz="2175" b="1" spc="-43">
              <a:solidFill>
                <a:srgbClr val="384653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076308" y="7467448"/>
            <a:ext cx="2005813" cy="572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Build a tailored step-by-step plan</a:t>
            </a:r>
            <a:endParaRPr lang="en-US" sz="15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28" name="Group 28"/>
          <p:cNvGrpSpPr/>
          <p:nvPr/>
        </p:nvGrpSpPr>
        <p:grpSpPr>
          <a:xfrm rot="0">
            <a:off x="11861883" y="6321266"/>
            <a:ext cx="446103" cy="446122"/>
            <a:chOff x="0" y="0"/>
            <a:chExt cx="594804" cy="594830"/>
          </a:xfrm>
        </p:grpSpPr>
        <p:sp>
          <p:nvSpPr>
            <p:cNvPr id="29" name="Freeform 29" descr="preencoded.png"/>
            <p:cNvSpPr/>
            <p:nvPr/>
          </p:nvSpPr>
          <p:spPr>
            <a:xfrm>
              <a:off x="0" y="0"/>
              <a:ext cx="594868" cy="594868"/>
            </a:xfrm>
            <a:custGeom>
              <a:avLst/>
              <a:gdLst/>
              <a:ahLst/>
              <a:cxnLst/>
              <a:rect l="l" t="t" r="r" b="b"/>
              <a:pathLst>
                <a:path w="594868" h="594868">
                  <a:moveTo>
                    <a:pt x="0" y="0"/>
                  </a:moveTo>
                  <a:lnTo>
                    <a:pt x="594868" y="0"/>
                  </a:lnTo>
                  <a:lnTo>
                    <a:pt x="594868" y="594868"/>
                  </a:lnTo>
                  <a:lnTo>
                    <a:pt x="0" y="594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r="7" b="6"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1372638" y="8450847"/>
            <a:ext cx="16471659" cy="472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The final step loops back to the first, turning a one-time scan into an ongoing habit.</a:t>
            </a:r>
            <a:endParaRPr lang="en-US" sz="24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195026" cy="12519279"/>
            </a:xfrm>
            <a:custGeom>
              <a:avLst/>
              <a:gdLst/>
              <a:ahLst/>
              <a:cxnLst/>
              <a:rect l="l" t="t" r="r" b="b"/>
              <a:pathLst>
                <a:path w="23195026" h="12519279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50" r="-1925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372638" y="1372676"/>
            <a:ext cx="9516866" cy="274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08">
                <a:solidFill>
                  <a:srgbClr val="38465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PRODUCT + PLATFORM</a:t>
            </a:r>
            <a:endParaRPr lang="en-US" sz="1800" spc="108">
              <a:solidFill>
                <a:srgbClr val="38465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72638" y="1813960"/>
            <a:ext cx="8601780" cy="1062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0"/>
              </a:lnSpc>
            </a:pPr>
            <a:r>
              <a:rPr lang="en-US" sz="4205" b="1" spc="-84">
                <a:solidFill>
                  <a:srgbClr val="2E3C4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What it does, and what powers it</a:t>
            </a:r>
            <a:endParaRPr lang="en-US" sz="4205" b="1" spc="-84">
              <a:solidFill>
                <a:srgbClr val="2E3C4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1372638" y="3248330"/>
            <a:ext cx="1075058" cy="104708"/>
            <a:chOff x="0" y="0"/>
            <a:chExt cx="1433411" cy="1396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33449" cy="139700"/>
            </a:xfrm>
            <a:custGeom>
              <a:avLst/>
              <a:gdLst/>
              <a:ahLst/>
              <a:cxnLst/>
              <a:rect l="l" t="t" r="r" b="b"/>
              <a:pathLst>
                <a:path w="1433449" h="139700">
                  <a:moveTo>
                    <a:pt x="0" y="69850"/>
                  </a:moveTo>
                  <a:cubicBezTo>
                    <a:pt x="0" y="31242"/>
                    <a:pt x="31242" y="0"/>
                    <a:pt x="69850" y="0"/>
                  </a:cubicBezTo>
                  <a:lnTo>
                    <a:pt x="1363599" y="0"/>
                  </a:lnTo>
                  <a:cubicBezTo>
                    <a:pt x="1402207" y="0"/>
                    <a:pt x="1433449" y="31242"/>
                    <a:pt x="1433449" y="69850"/>
                  </a:cubicBezTo>
                  <a:cubicBezTo>
                    <a:pt x="1433449" y="108458"/>
                    <a:pt x="1402207" y="139700"/>
                    <a:pt x="1363599" y="139700"/>
                  </a:cubicBezTo>
                  <a:lnTo>
                    <a:pt x="69850" y="139700"/>
                  </a:lnTo>
                  <a:cubicBezTo>
                    <a:pt x="31242" y="139573"/>
                    <a:pt x="0" y="108331"/>
                    <a:pt x="0" y="69850"/>
                  </a:cubicBezTo>
                  <a:close/>
                </a:path>
              </a:pathLst>
            </a:custGeom>
            <a:solidFill>
              <a:srgbClr val="0F9D9A"/>
            </a:solidFill>
          </p:spPr>
        </p:sp>
      </p:grpSp>
      <p:grpSp>
        <p:nvGrpSpPr>
          <p:cNvPr id="12" name="Group 12"/>
          <p:cNvGrpSpPr/>
          <p:nvPr/>
        </p:nvGrpSpPr>
        <p:grpSpPr>
          <a:xfrm rot="0">
            <a:off x="1372638" y="3594183"/>
            <a:ext cx="629126" cy="629145"/>
            <a:chOff x="0" y="0"/>
            <a:chExt cx="838835" cy="83886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838835" cy="838835"/>
            </a:xfrm>
            <a:custGeom>
              <a:avLst/>
              <a:gdLst/>
              <a:ahLst/>
              <a:cxnLst/>
              <a:rect l="l" t="t" r="r" b="b"/>
              <a:pathLst>
                <a:path w="838835" h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 b="-3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2316328" y="3648732"/>
            <a:ext cx="3242739" cy="89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 b="1">
                <a:solidFill>
                  <a:srgbClr val="384653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AI selfie skin analysis</a:t>
            </a:r>
            <a:endParaRPr lang="en-US" sz="2475" b="1">
              <a:solidFill>
                <a:srgbClr val="384653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15" name="Group 15"/>
          <p:cNvGrpSpPr/>
          <p:nvPr/>
        </p:nvGrpSpPr>
        <p:grpSpPr>
          <a:xfrm rot="0">
            <a:off x="5787838" y="3594183"/>
            <a:ext cx="629126" cy="629145"/>
            <a:chOff x="0" y="0"/>
            <a:chExt cx="838835" cy="838860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838835" cy="838835"/>
            </a:xfrm>
            <a:custGeom>
              <a:avLst/>
              <a:gdLst/>
              <a:ahLst/>
              <a:cxnLst/>
              <a:rect l="l" t="t" r="r" b="b"/>
              <a:pathLst>
                <a:path w="838835" h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1" b="-3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6731527" y="3648732"/>
            <a:ext cx="3242891" cy="1746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 b="1">
                <a:solidFill>
                  <a:srgbClr val="384653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Personalized recommendations from Joyory’s catalog</a:t>
            </a:r>
            <a:endParaRPr lang="en-US" sz="2475" b="1">
              <a:solidFill>
                <a:srgbClr val="384653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18" name="Group 18"/>
          <p:cNvGrpSpPr/>
          <p:nvPr/>
        </p:nvGrpSpPr>
        <p:grpSpPr>
          <a:xfrm rot="0">
            <a:off x="1372638" y="5521376"/>
            <a:ext cx="629126" cy="629145"/>
            <a:chOff x="0" y="0"/>
            <a:chExt cx="838835" cy="838860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838835" cy="838835"/>
            </a:xfrm>
            <a:custGeom>
              <a:avLst/>
              <a:gdLst/>
              <a:ahLst/>
              <a:cxnLst/>
              <a:rect l="l" t="t" r="r" b="b"/>
              <a:pathLst>
                <a:path w="838835" h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r="-1" b="-3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2316328" y="5575925"/>
            <a:ext cx="3242739" cy="1321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 b="1">
                <a:solidFill>
                  <a:srgbClr val="384653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Ingredient-conflict-aware routine builder</a:t>
            </a:r>
            <a:endParaRPr lang="en-US" sz="2475" b="1">
              <a:solidFill>
                <a:srgbClr val="384653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21" name="Group 21"/>
          <p:cNvGrpSpPr/>
          <p:nvPr/>
        </p:nvGrpSpPr>
        <p:grpSpPr>
          <a:xfrm rot="0">
            <a:off x="5787838" y="5521376"/>
            <a:ext cx="629126" cy="629145"/>
            <a:chOff x="0" y="0"/>
            <a:chExt cx="838835" cy="838860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838835" cy="838835"/>
            </a:xfrm>
            <a:custGeom>
              <a:avLst/>
              <a:gdLst/>
              <a:ahLst/>
              <a:cxnLst/>
              <a:rect l="l" t="t" r="r" b="b"/>
              <a:pathLst>
                <a:path w="838835" h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-1" b="-3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6731527" y="5575925"/>
            <a:ext cx="3242891" cy="89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 b="1">
                <a:solidFill>
                  <a:srgbClr val="384653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Conversational AI Beauty Concierge</a:t>
            </a:r>
            <a:endParaRPr lang="en-US" sz="2475" b="1">
              <a:solidFill>
                <a:srgbClr val="384653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24" name="Group 24"/>
          <p:cNvGrpSpPr/>
          <p:nvPr/>
        </p:nvGrpSpPr>
        <p:grpSpPr>
          <a:xfrm rot="0">
            <a:off x="1372638" y="7023925"/>
            <a:ext cx="629126" cy="629145"/>
            <a:chOff x="0" y="0"/>
            <a:chExt cx="838835" cy="838860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838835" cy="838835"/>
            </a:xfrm>
            <a:custGeom>
              <a:avLst/>
              <a:gdLst/>
              <a:ahLst/>
              <a:cxnLst/>
              <a:rect l="l" t="t" r="r" b="b"/>
              <a:pathLst>
                <a:path w="838835" h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r="-1" b="-3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2316328" y="7078475"/>
            <a:ext cx="7658090" cy="89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 b="1">
                <a:solidFill>
                  <a:srgbClr val="384653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Usage-based reorder nudges and progress tracking</a:t>
            </a:r>
            <a:endParaRPr lang="en-US" sz="2475" b="1">
              <a:solidFill>
                <a:srgbClr val="384653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27" name="Group 27"/>
          <p:cNvGrpSpPr/>
          <p:nvPr/>
        </p:nvGrpSpPr>
        <p:grpSpPr>
          <a:xfrm rot="0">
            <a:off x="10889504" y="457562"/>
            <a:ext cx="6954793" cy="9379925"/>
            <a:chOff x="0" y="0"/>
            <a:chExt cx="9273057" cy="1250656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273032" cy="12506452"/>
            </a:xfrm>
            <a:custGeom>
              <a:avLst/>
              <a:gdLst/>
              <a:ahLst/>
              <a:cxnLst/>
              <a:rect l="l" t="t" r="r" b="b"/>
              <a:pathLst>
                <a:path w="9273032" h="12506452">
                  <a:moveTo>
                    <a:pt x="0" y="629031"/>
                  </a:moveTo>
                  <a:cubicBezTo>
                    <a:pt x="0" y="281686"/>
                    <a:pt x="281686" y="0"/>
                    <a:pt x="629031" y="0"/>
                  </a:cubicBezTo>
                  <a:lnTo>
                    <a:pt x="8644001" y="0"/>
                  </a:lnTo>
                  <a:cubicBezTo>
                    <a:pt x="8991473" y="0"/>
                    <a:pt x="9273032" y="281686"/>
                    <a:pt x="9273032" y="629031"/>
                  </a:cubicBezTo>
                  <a:lnTo>
                    <a:pt x="9273032" y="11877422"/>
                  </a:lnTo>
                  <a:cubicBezTo>
                    <a:pt x="9273032" y="12224893"/>
                    <a:pt x="8991346" y="12506452"/>
                    <a:pt x="8644001" y="12506452"/>
                  </a:cubicBezTo>
                  <a:lnTo>
                    <a:pt x="629031" y="12506452"/>
                  </a:lnTo>
                  <a:cubicBezTo>
                    <a:pt x="281686" y="12506579"/>
                    <a:pt x="0" y="12224893"/>
                    <a:pt x="0" y="11877548"/>
                  </a:cubicBezTo>
                  <a:close/>
                </a:path>
              </a:pathLst>
            </a:custGeom>
            <a:solidFill>
              <a:srgbClr val="D0FBFA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1308928" y="3278562"/>
            <a:ext cx="6535369" cy="274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08">
                <a:solidFill>
                  <a:srgbClr val="38465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TECH STACK</a:t>
            </a:r>
            <a:endParaRPr lang="en-US" sz="1800" spc="108">
              <a:solidFill>
                <a:srgbClr val="38465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308928" y="3643655"/>
            <a:ext cx="6115955" cy="1035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5"/>
              </a:lnSpc>
            </a:pPr>
            <a:r>
              <a:rPr lang="en-US" sz="3300">
                <a:solidFill>
                  <a:srgbClr val="2E3C4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Built as a sequential agent pipeline</a:t>
            </a:r>
            <a:endParaRPr lang="en-US" sz="3300">
              <a:solidFill>
                <a:srgbClr val="2E3C4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308928" y="4845653"/>
            <a:ext cx="6115955" cy="2170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Gemini Vision API</a:t>
            </a:r>
            <a:endParaRPr lang="en-US" sz="24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Django/FastAPI with Gemini and Groq rotation</a:t>
            </a:r>
            <a:endParaRPr lang="en-US" sz="24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React</a:t>
            </a:r>
            <a:endParaRPr lang="en-US" sz="24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OAuth and Razorpay-style checkout</a:t>
            </a:r>
            <a:endParaRPr lang="en-US" sz="24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195026" cy="12519279"/>
            </a:xfrm>
            <a:custGeom>
              <a:avLst/>
              <a:gdLst/>
              <a:ahLst/>
              <a:cxnLst/>
              <a:rect l="l" t="t" r="r" b="b"/>
              <a:pathLst>
                <a:path w="23195026" h="12519279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50" r="-1925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372638" y="1372676"/>
            <a:ext cx="16471659" cy="274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08">
                <a:solidFill>
                  <a:srgbClr val="03625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THE DIFFERENCE</a:t>
            </a:r>
            <a:endParaRPr lang="en-US" sz="1800" spc="108">
              <a:solidFill>
                <a:srgbClr val="03625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72638" y="1813960"/>
            <a:ext cx="15556563" cy="50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0"/>
              </a:lnSpc>
            </a:pPr>
            <a:r>
              <a:rPr lang="en-US" sz="4205" b="1" spc="-84">
                <a:solidFill>
                  <a:srgbClr val="2E3C4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Most skin-scanner apps stop at diagnosis</a:t>
            </a:r>
            <a:endParaRPr lang="en-US" sz="4205" b="1" spc="-84">
              <a:solidFill>
                <a:srgbClr val="2E3C4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72638" y="2569331"/>
            <a:ext cx="16471659" cy="472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Joyory turns diagnosis into a retention engine.</a:t>
            </a:r>
            <a:endParaRPr lang="en-US" sz="24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372638" y="3308504"/>
          <a:ext cx="15518824" cy="3622330"/>
        </p:xfrm>
        <a:graphic>
          <a:graphicData uri="http://schemas.openxmlformats.org/drawingml/2006/table">
            <a:tbl>
              <a:tblPr/>
              <a:tblGrid>
                <a:gridCol w="7759412"/>
                <a:gridCol w="7759412"/>
              </a:tblGrid>
              <a:tr h="726247">
                <a:tc>
                  <a:txBody>
                    <a:bodyPr rtlCol="0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>
                          <a:solidFill>
                            <a:srgbClr val="2E3C4E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Typical skin-scanner app</a:t>
                      </a:r>
                      <a:endParaRPr lang="en-US" sz="1100"/>
                    </a:p>
                  </a:txBody>
                  <a:tcPr marL="152396" marR="152396" marT="152396" marB="152396" anchor="t">
                    <a:lnL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5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Joyory AI Beauty Concierge</a:t>
                      </a:r>
                      <a:endParaRPr lang="en-US" sz="1100"/>
                    </a:p>
                  </a:txBody>
                  <a:tcPr marL="152396" marR="152396" marT="152396" marB="152396" anchor="t">
                    <a:lnL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FFD"/>
                    </a:solidFill>
                  </a:tcPr>
                </a:tc>
              </a:tr>
              <a:tr h="726247">
                <a:tc>
                  <a:txBody>
                    <a:bodyPr rtlCol="0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>
                          <a:solidFill>
                            <a:srgbClr val="384653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Single ML model</a:t>
                      </a:r>
                      <a:endParaRPr lang="en-US" sz="1100"/>
                    </a:p>
                  </a:txBody>
                  <a:tcPr marL="152396" marR="152396" marT="152396" marB="152396" anchor="t">
                    <a:lnL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Five specialized agents</a:t>
                      </a:r>
                      <a:endParaRPr lang="en-US" sz="1100"/>
                    </a:p>
                  </a:txBody>
                  <a:tcPr marL="152396" marR="152396" marT="152396" marB="152396" anchor="t">
                    <a:lnL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FFD"/>
                    </a:solidFill>
                  </a:tcPr>
                </a:tc>
              </a:tr>
              <a:tr h="726247">
                <a:tc>
                  <a:txBody>
                    <a:bodyPr rtlCol="0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>
                          <a:solidFill>
                            <a:srgbClr val="384653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One-time scan</a:t>
                      </a:r>
                      <a:endParaRPr lang="en-US" sz="1100"/>
                    </a:p>
                  </a:txBody>
                  <a:tcPr marL="152396" marR="152396" marT="152396" marB="152396" anchor="t">
                    <a:lnL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Progress tracking every 2–3 weeks</a:t>
                      </a:r>
                      <a:endParaRPr lang="en-US" sz="1100"/>
                    </a:p>
                  </a:txBody>
                  <a:tcPr marL="152396" marR="152396" marT="152396" marB="152396" anchor="t">
                    <a:lnL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FFD"/>
                    </a:solidFill>
                  </a:tcPr>
                </a:tc>
              </a:tr>
              <a:tr h="726247">
                <a:tc>
                  <a:txBody>
                    <a:bodyPr rtlCol="0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>
                          <a:solidFill>
                            <a:srgbClr val="384653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Generic product suggestions</a:t>
                      </a:r>
                      <a:endParaRPr lang="en-US" sz="1100"/>
                    </a:p>
                  </a:txBody>
                  <a:tcPr marL="152396" marR="152396" marT="152396" marB="152396" anchor="t">
                    <a:lnL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Real catalog plus conflict-aware routines</a:t>
                      </a:r>
                      <a:endParaRPr lang="en-US" sz="1100"/>
                    </a:p>
                  </a:txBody>
                  <a:tcPr marL="152396" marR="152396" marT="152396" marB="152396" anchor="t">
                    <a:lnL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FFD"/>
                    </a:solidFill>
                  </a:tcPr>
                </a:tc>
              </a:tr>
              <a:tr h="717342">
                <a:tc>
                  <a:txBody>
                    <a:bodyPr rtlCol="0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>
                          <a:solidFill>
                            <a:srgbClr val="384653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No follow-up</a:t>
                      </a:r>
                      <a:endParaRPr lang="en-US" sz="1100"/>
                    </a:p>
                  </a:txBody>
                  <a:tcPr marL="152396" marR="152396" marT="152396" marB="152396" anchor="t">
                    <a:lnL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Usage-tied reorder nudges</a:t>
                      </a:r>
                      <a:endParaRPr lang="en-US" sz="1100"/>
                    </a:p>
                  </a:txBody>
                  <a:tcPr marL="152396" marR="152396" marT="152396" marB="152396" anchor="t">
                    <a:lnL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F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195026" cy="12519279"/>
            </a:xfrm>
            <a:custGeom>
              <a:avLst/>
              <a:gdLst/>
              <a:ahLst/>
              <a:cxnLst/>
              <a:rect l="l" t="t" r="r" b="b"/>
              <a:pathLst>
                <a:path w="23195026" h="12519279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50" r="-1925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372638" y="1372676"/>
            <a:ext cx="16471659" cy="274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08">
                <a:solidFill>
                  <a:srgbClr val="1B3A3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THE BUSINESS CASE</a:t>
            </a:r>
            <a:endParaRPr lang="en-US" sz="1800" spc="108">
              <a:solidFill>
                <a:srgbClr val="1B3A3E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72638" y="1813960"/>
            <a:ext cx="15556563" cy="50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0"/>
              </a:lnSpc>
            </a:pPr>
            <a:r>
              <a:rPr lang="en-US" sz="4205" b="1" spc="-84">
                <a:solidFill>
                  <a:srgbClr val="2E3C4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This isn’t a feature. It’s a revenue lever.</a:t>
            </a:r>
            <a:endParaRPr lang="en-US" sz="4205" b="1" spc="-84">
              <a:solidFill>
                <a:srgbClr val="2E3C4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1372638" y="2693213"/>
            <a:ext cx="1944567" cy="104708"/>
            <a:chOff x="0" y="0"/>
            <a:chExt cx="2592756" cy="1396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92832" cy="139700"/>
            </a:xfrm>
            <a:custGeom>
              <a:avLst/>
              <a:gdLst/>
              <a:ahLst/>
              <a:cxnLst/>
              <a:rect l="l" t="t" r="r" b="b"/>
              <a:pathLst>
                <a:path w="2592832" h="139700">
                  <a:moveTo>
                    <a:pt x="0" y="69850"/>
                  </a:moveTo>
                  <a:cubicBezTo>
                    <a:pt x="0" y="31242"/>
                    <a:pt x="31242" y="0"/>
                    <a:pt x="69850" y="0"/>
                  </a:cubicBezTo>
                  <a:lnTo>
                    <a:pt x="2522982" y="0"/>
                  </a:lnTo>
                  <a:cubicBezTo>
                    <a:pt x="2561590" y="0"/>
                    <a:pt x="2592832" y="31242"/>
                    <a:pt x="2592832" y="69850"/>
                  </a:cubicBezTo>
                  <a:cubicBezTo>
                    <a:pt x="2592832" y="108458"/>
                    <a:pt x="2561590" y="139700"/>
                    <a:pt x="2522982" y="139700"/>
                  </a:cubicBezTo>
                  <a:lnTo>
                    <a:pt x="69850" y="139700"/>
                  </a:lnTo>
                  <a:cubicBezTo>
                    <a:pt x="31242" y="139573"/>
                    <a:pt x="0" y="108331"/>
                    <a:pt x="0" y="69850"/>
                  </a:cubicBezTo>
                  <a:close/>
                </a:path>
              </a:pathLst>
            </a:custGeom>
            <a:solidFill>
              <a:srgbClr val="0F9D9A"/>
            </a:solidFill>
          </p:spPr>
        </p:sp>
      </p:grpSp>
      <p:grpSp>
        <p:nvGrpSpPr>
          <p:cNvPr id="12" name="Group 12"/>
          <p:cNvGrpSpPr/>
          <p:nvPr/>
        </p:nvGrpSpPr>
        <p:grpSpPr>
          <a:xfrm rot="0">
            <a:off x="1372638" y="3141240"/>
            <a:ext cx="4880496" cy="4338752"/>
            <a:chOff x="0" y="0"/>
            <a:chExt cx="6507328" cy="57850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507353" cy="5785104"/>
            </a:xfrm>
            <a:custGeom>
              <a:avLst/>
              <a:gdLst/>
              <a:ahLst/>
              <a:cxnLst/>
              <a:rect l="l" t="t" r="r" b="b"/>
              <a:pathLst>
                <a:path w="6507353" h="5785104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5878195" y="0"/>
                  </a:lnTo>
                  <a:cubicBezTo>
                    <a:pt x="6225667" y="0"/>
                    <a:pt x="6507353" y="281686"/>
                    <a:pt x="6507353" y="629158"/>
                  </a:cubicBezTo>
                  <a:lnTo>
                    <a:pt x="6507353" y="5155946"/>
                  </a:lnTo>
                  <a:cubicBezTo>
                    <a:pt x="6507353" y="5503418"/>
                    <a:pt x="6225667" y="5785104"/>
                    <a:pt x="5878195" y="5785104"/>
                  </a:cubicBezTo>
                  <a:lnTo>
                    <a:pt x="629158" y="5785104"/>
                  </a:lnTo>
                  <a:cubicBezTo>
                    <a:pt x="281686" y="5784977"/>
                    <a:pt x="0" y="5503291"/>
                    <a:pt x="0" y="5155946"/>
                  </a:cubicBezTo>
                  <a:close/>
                </a:path>
              </a:pathLst>
            </a:custGeom>
            <a:solidFill>
              <a:srgbClr val="E5FFFD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753924" y="3684461"/>
            <a:ext cx="4117915" cy="826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80"/>
              </a:lnSpc>
            </a:pPr>
            <a:r>
              <a:rPr lang="en-US" sz="8105" b="1" spc="-283">
                <a:solidFill>
                  <a:srgbClr val="000000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01</a:t>
            </a:r>
            <a:endParaRPr lang="en-US" sz="8105" b="1" spc="-283">
              <a:solidFill>
                <a:srgbClr val="000000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53924" y="4653791"/>
            <a:ext cx="4117915" cy="53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5"/>
              </a:lnSpc>
            </a:pPr>
            <a:r>
              <a:rPr lang="en-US" sz="330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Higher basket size</a:t>
            </a:r>
            <a:endParaRPr lang="en-US" sz="3300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53924" y="5352507"/>
            <a:ext cx="4117915" cy="1321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A routine creates a multi-product purchase, not a single recommendation.</a:t>
            </a:r>
            <a:endParaRPr lang="en-US" sz="2475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17" name="Group 17"/>
          <p:cNvGrpSpPr/>
          <p:nvPr/>
        </p:nvGrpSpPr>
        <p:grpSpPr>
          <a:xfrm rot="0">
            <a:off x="6710677" y="3141240"/>
            <a:ext cx="4880496" cy="4338752"/>
            <a:chOff x="0" y="0"/>
            <a:chExt cx="6507328" cy="578500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507353" cy="5785104"/>
            </a:xfrm>
            <a:custGeom>
              <a:avLst/>
              <a:gdLst/>
              <a:ahLst/>
              <a:cxnLst/>
              <a:rect l="l" t="t" r="r" b="b"/>
              <a:pathLst>
                <a:path w="6507353" h="5785104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5878195" y="0"/>
                  </a:lnTo>
                  <a:cubicBezTo>
                    <a:pt x="6225667" y="0"/>
                    <a:pt x="6507353" y="281686"/>
                    <a:pt x="6507353" y="629158"/>
                  </a:cubicBezTo>
                  <a:lnTo>
                    <a:pt x="6507353" y="5155946"/>
                  </a:lnTo>
                  <a:cubicBezTo>
                    <a:pt x="6507353" y="5503418"/>
                    <a:pt x="6225667" y="5785104"/>
                    <a:pt x="5878195" y="5785104"/>
                  </a:cubicBezTo>
                  <a:lnTo>
                    <a:pt x="629158" y="5785104"/>
                  </a:lnTo>
                  <a:cubicBezTo>
                    <a:pt x="281686" y="5784977"/>
                    <a:pt x="0" y="5503291"/>
                    <a:pt x="0" y="5155946"/>
                  </a:cubicBezTo>
                  <a:close/>
                </a:path>
              </a:pathLst>
            </a:custGeom>
            <a:solidFill>
              <a:srgbClr val="E5FFFD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7091963" y="3684461"/>
            <a:ext cx="4117915" cy="826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80"/>
              </a:lnSpc>
            </a:pPr>
            <a:r>
              <a:rPr lang="en-US" sz="8105" b="1" spc="-283">
                <a:solidFill>
                  <a:srgbClr val="000000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02</a:t>
            </a:r>
            <a:endParaRPr lang="en-US" sz="8105" b="1" spc="-283">
              <a:solidFill>
                <a:srgbClr val="000000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091963" y="4653791"/>
            <a:ext cx="4117915" cy="53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5"/>
              </a:lnSpc>
            </a:pPr>
            <a:r>
              <a:rPr lang="en-US" sz="330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Fewer returns</a:t>
            </a:r>
            <a:endParaRPr lang="en-US" sz="3300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091963" y="5352507"/>
            <a:ext cx="4117915" cy="89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Better-fit products reduce wrong-first purchases.</a:t>
            </a:r>
            <a:endParaRPr lang="en-US" sz="2475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22" name="Group 22"/>
          <p:cNvGrpSpPr/>
          <p:nvPr/>
        </p:nvGrpSpPr>
        <p:grpSpPr>
          <a:xfrm rot="0">
            <a:off x="12048715" y="3141240"/>
            <a:ext cx="4880496" cy="4338752"/>
            <a:chOff x="0" y="0"/>
            <a:chExt cx="6507328" cy="578500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507353" cy="5785104"/>
            </a:xfrm>
            <a:custGeom>
              <a:avLst/>
              <a:gdLst/>
              <a:ahLst/>
              <a:cxnLst/>
              <a:rect l="l" t="t" r="r" b="b"/>
              <a:pathLst>
                <a:path w="6507353" h="5785104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5878195" y="0"/>
                  </a:lnTo>
                  <a:cubicBezTo>
                    <a:pt x="6225667" y="0"/>
                    <a:pt x="6507353" y="281686"/>
                    <a:pt x="6507353" y="629158"/>
                  </a:cubicBezTo>
                  <a:lnTo>
                    <a:pt x="6507353" y="5155946"/>
                  </a:lnTo>
                  <a:cubicBezTo>
                    <a:pt x="6507353" y="5503418"/>
                    <a:pt x="6225667" y="5785104"/>
                    <a:pt x="5878195" y="5785104"/>
                  </a:cubicBezTo>
                  <a:lnTo>
                    <a:pt x="629158" y="5785104"/>
                  </a:lnTo>
                  <a:cubicBezTo>
                    <a:pt x="281686" y="5784977"/>
                    <a:pt x="0" y="5503291"/>
                    <a:pt x="0" y="5155946"/>
                  </a:cubicBezTo>
                  <a:close/>
                </a:path>
              </a:pathLst>
            </a:custGeom>
            <a:solidFill>
              <a:srgbClr val="E5FFFD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2430001" y="3684461"/>
            <a:ext cx="4117915" cy="826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80"/>
              </a:lnSpc>
            </a:pPr>
            <a:r>
              <a:rPr lang="en-US" sz="8105" b="1" spc="-283">
                <a:solidFill>
                  <a:srgbClr val="000000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03</a:t>
            </a:r>
            <a:endParaRPr lang="en-US" sz="8105" b="1" spc="-283">
              <a:solidFill>
                <a:srgbClr val="000000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430001" y="4653791"/>
            <a:ext cx="4117915" cy="53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5"/>
              </a:lnSpc>
            </a:pPr>
            <a:r>
              <a:rPr lang="en-US" sz="330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Recurring revenue</a:t>
            </a:r>
            <a:endParaRPr lang="en-US" sz="3300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430001" y="5352507"/>
            <a:ext cx="4117915" cy="1746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Reorder nudges create subscription-like behavior without requiring a subscription model.</a:t>
            </a:r>
            <a:endParaRPr lang="en-US" sz="2475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372638" y="7699277"/>
            <a:ext cx="16471659" cy="472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 b="1">
                <a:solidFill>
                  <a:srgbClr val="384653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Joyory becomes the most personalized beauty platform in its segment.</a:t>
            </a:r>
            <a:endParaRPr lang="en-US" sz="2475" b="1">
              <a:solidFill>
                <a:srgbClr val="384653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195026" cy="12519279"/>
            </a:xfrm>
            <a:custGeom>
              <a:avLst/>
              <a:gdLst/>
              <a:ahLst/>
              <a:cxnLst/>
              <a:rect l="l" t="t" r="r" b="b"/>
              <a:pathLst>
                <a:path w="23195026" h="12519279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50" r="-1925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372638" y="1372676"/>
            <a:ext cx="16471659" cy="274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08">
                <a:solidFill>
                  <a:srgbClr val="03625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THE BUILD PLAN</a:t>
            </a:r>
            <a:endParaRPr lang="en-US" sz="1800" spc="108">
              <a:solidFill>
                <a:srgbClr val="03625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72638" y="1813960"/>
            <a:ext cx="15556563" cy="50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0"/>
              </a:lnSpc>
            </a:pPr>
            <a:r>
              <a:rPr lang="en-US" sz="4205" b="1" spc="-84">
                <a:solidFill>
                  <a:srgbClr val="2E3C4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Built smart today, built to scale tomorrow</a:t>
            </a:r>
            <a:endParaRPr lang="en-US" sz="4205" b="1" spc="-84">
              <a:solidFill>
                <a:srgbClr val="2E3C4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1372638" y="2693213"/>
            <a:ext cx="15556563" cy="47511"/>
            <a:chOff x="0" y="0"/>
            <a:chExt cx="20742084" cy="633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742021" cy="63247"/>
            </a:xfrm>
            <a:custGeom>
              <a:avLst/>
              <a:gdLst/>
              <a:ahLst/>
              <a:cxnLst/>
              <a:rect l="l" t="t" r="r" b="b"/>
              <a:pathLst>
                <a:path w="20742021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0710398" y="0"/>
                  </a:lnTo>
                  <a:cubicBezTo>
                    <a:pt x="20727924" y="0"/>
                    <a:pt x="20742021" y="14224"/>
                    <a:pt x="20742021" y="31623"/>
                  </a:cubicBezTo>
                  <a:cubicBezTo>
                    <a:pt x="20742021" y="49149"/>
                    <a:pt x="20727797" y="63246"/>
                    <a:pt x="20710398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75BAE6"/>
            </a:solidFill>
          </p:spPr>
        </p:sp>
      </p:grpSp>
      <p:grpSp>
        <p:nvGrpSpPr>
          <p:cNvPr id="12" name="Group 12"/>
          <p:cNvGrpSpPr/>
          <p:nvPr/>
        </p:nvGrpSpPr>
        <p:grpSpPr>
          <a:xfrm rot="0">
            <a:off x="1372638" y="3084043"/>
            <a:ext cx="6619227" cy="5899242"/>
            <a:chOff x="0" y="0"/>
            <a:chExt cx="8825636" cy="78656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25738" cy="7865745"/>
            </a:xfrm>
            <a:custGeom>
              <a:avLst/>
              <a:gdLst/>
              <a:ahLst/>
              <a:cxnLst/>
              <a:rect l="l" t="t" r="r" b="b"/>
              <a:pathLst>
                <a:path w="8825738" h="7865745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8196580" y="0"/>
                  </a:lnTo>
                  <a:cubicBezTo>
                    <a:pt x="8544052" y="0"/>
                    <a:pt x="8825738" y="281686"/>
                    <a:pt x="8825738" y="629158"/>
                  </a:cubicBezTo>
                  <a:lnTo>
                    <a:pt x="8825738" y="7236587"/>
                  </a:lnTo>
                  <a:cubicBezTo>
                    <a:pt x="8825738" y="7584059"/>
                    <a:pt x="8544052" y="7865745"/>
                    <a:pt x="8196580" y="7865745"/>
                  </a:cubicBezTo>
                  <a:lnTo>
                    <a:pt x="629158" y="7865745"/>
                  </a:lnTo>
                  <a:cubicBezTo>
                    <a:pt x="281686" y="7865618"/>
                    <a:pt x="0" y="7584059"/>
                    <a:pt x="0" y="7236587"/>
                  </a:cubicBezTo>
                  <a:close/>
                </a:path>
              </a:pathLst>
            </a:custGeom>
            <a:solidFill>
              <a:srgbClr val="EEEFF5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672904" y="3384318"/>
            <a:ext cx="1282979" cy="487499"/>
            <a:chOff x="0" y="0"/>
            <a:chExt cx="1710639" cy="64999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10690" cy="649986"/>
            </a:xfrm>
            <a:custGeom>
              <a:avLst/>
              <a:gdLst/>
              <a:ahLst/>
              <a:cxnLst/>
              <a:rect l="l" t="t" r="r" b="b"/>
              <a:pathLst>
                <a:path w="1710690" h="649986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1385697" y="0"/>
                  </a:lnTo>
                  <a:cubicBezTo>
                    <a:pt x="1565148" y="0"/>
                    <a:pt x="1710690" y="145542"/>
                    <a:pt x="1710690" y="324993"/>
                  </a:cubicBezTo>
                  <a:cubicBezTo>
                    <a:pt x="1710690" y="504444"/>
                    <a:pt x="1565148" y="649986"/>
                    <a:pt x="1385697" y="649986"/>
                  </a:cubicBezTo>
                  <a:lnTo>
                    <a:pt x="324993" y="649986"/>
                  </a:lnTo>
                  <a:cubicBezTo>
                    <a:pt x="145542" y="649986"/>
                    <a:pt x="0" y="504444"/>
                    <a:pt x="0" y="324993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79" r="2" b="-1281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866376" y="3473844"/>
            <a:ext cx="1811122" cy="298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950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TODAY</a:t>
            </a:r>
            <a:endParaRPr lang="en-US" sz="1950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77667" y="3957628"/>
            <a:ext cx="6009161" cy="53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5"/>
              </a:lnSpc>
            </a:pPr>
            <a:r>
              <a:rPr lang="en-US" sz="3300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Challenges solved</a:t>
            </a:r>
            <a:endParaRPr lang="en-US" sz="3300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677667" y="4656344"/>
            <a:ext cx="6009161" cy="4021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8310" lvl="1" indent="-224155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One-day build constraint → pre-trained Gemini Vision instead of a custom CNN.</a:t>
            </a:r>
            <a:endParaRPr lang="en-US" sz="24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marL="448310" lvl="1" indent="-224155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No live Joyory product API → representative seeded catalog from real storefront data.</a:t>
            </a:r>
            <a:endParaRPr lang="en-US" sz="24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marL="448310" lvl="1" indent="-224155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Unsafe skincare advice → hardcoded ingredient-conflict rules layered on LLM reasoning.</a:t>
            </a:r>
            <a:endParaRPr lang="en-US" sz="24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19" name="Group 19"/>
          <p:cNvGrpSpPr/>
          <p:nvPr/>
        </p:nvGrpSpPr>
        <p:grpSpPr>
          <a:xfrm rot="0">
            <a:off x="8757571" y="3427209"/>
            <a:ext cx="786403" cy="786432"/>
            <a:chOff x="0" y="0"/>
            <a:chExt cx="1048537" cy="1048576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048512" cy="1048512"/>
            </a:xfrm>
            <a:custGeom>
              <a:avLst/>
              <a:gdLst/>
              <a:ahLst/>
              <a:cxnLst/>
              <a:rect l="l" t="t" r="r" b="b"/>
              <a:pathLst>
                <a:path w="1048512" h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4" b="-6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 rot="0">
            <a:off x="10309831" y="3084043"/>
            <a:ext cx="6619370" cy="5899242"/>
            <a:chOff x="0" y="0"/>
            <a:chExt cx="8825827" cy="786565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825864" cy="7865745"/>
            </a:xfrm>
            <a:custGeom>
              <a:avLst/>
              <a:gdLst/>
              <a:ahLst/>
              <a:cxnLst/>
              <a:rect l="l" t="t" r="r" b="b"/>
              <a:pathLst>
                <a:path w="8825864" h="7865745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8196707" y="0"/>
                  </a:lnTo>
                  <a:cubicBezTo>
                    <a:pt x="8544178" y="0"/>
                    <a:pt x="8825864" y="281686"/>
                    <a:pt x="8825864" y="629158"/>
                  </a:cubicBezTo>
                  <a:lnTo>
                    <a:pt x="8825864" y="7236587"/>
                  </a:lnTo>
                  <a:cubicBezTo>
                    <a:pt x="8825864" y="7584059"/>
                    <a:pt x="8544178" y="7865745"/>
                    <a:pt x="8196707" y="7865745"/>
                  </a:cubicBezTo>
                  <a:lnTo>
                    <a:pt x="629158" y="7865745"/>
                  </a:lnTo>
                  <a:cubicBezTo>
                    <a:pt x="281686" y="7865618"/>
                    <a:pt x="0" y="7584059"/>
                    <a:pt x="0" y="7236587"/>
                  </a:cubicBezTo>
                  <a:close/>
                </a:path>
              </a:pathLst>
            </a:custGeom>
            <a:solidFill>
              <a:srgbClr val="E5FFFD"/>
            </a:solidFill>
          </p:spPr>
        </p:sp>
      </p:grpSp>
      <p:grpSp>
        <p:nvGrpSpPr>
          <p:cNvPr id="23" name="Group 23"/>
          <p:cNvGrpSpPr/>
          <p:nvPr/>
        </p:nvGrpSpPr>
        <p:grpSpPr>
          <a:xfrm rot="0">
            <a:off x="10610088" y="3384318"/>
            <a:ext cx="1097099" cy="487499"/>
            <a:chOff x="0" y="0"/>
            <a:chExt cx="1462799" cy="64999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62786" cy="649986"/>
            </a:xfrm>
            <a:custGeom>
              <a:avLst/>
              <a:gdLst/>
              <a:ahLst/>
              <a:cxnLst/>
              <a:rect l="l" t="t" r="r" b="b"/>
              <a:pathLst>
                <a:path w="1462786" h="649986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1137793" y="0"/>
                  </a:lnTo>
                  <a:cubicBezTo>
                    <a:pt x="1317244" y="0"/>
                    <a:pt x="1462786" y="145542"/>
                    <a:pt x="1462786" y="324993"/>
                  </a:cubicBezTo>
                  <a:cubicBezTo>
                    <a:pt x="1462786" y="504444"/>
                    <a:pt x="1317244" y="649986"/>
                    <a:pt x="1137793" y="649986"/>
                  </a:cubicBezTo>
                  <a:lnTo>
                    <a:pt x="324993" y="649986"/>
                  </a:lnTo>
                  <a:cubicBezTo>
                    <a:pt x="145542" y="649986"/>
                    <a:pt x="0" y="504444"/>
                    <a:pt x="0" y="324993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12" r="-7012" b="-1"/>
              </a:stretch>
            </a:blipFill>
            <a:ln w="9532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0803569" y="3473844"/>
            <a:ext cx="1625241" cy="298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95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NEXT</a:t>
            </a:r>
            <a:endParaRPr lang="en-US" sz="1950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592000" y="4153208"/>
            <a:ext cx="6009313" cy="53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5"/>
              </a:lnSpc>
            </a:pPr>
            <a:r>
              <a:rPr lang="en-US" sz="330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Future scope</a:t>
            </a:r>
            <a:endParaRPr lang="en-US" sz="3300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614860" y="4381389"/>
            <a:ext cx="6009313" cy="172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4155" lvl="1" indent="0" algn="l">
              <a:lnSpc>
                <a:spcPts val="3360"/>
              </a:lnSpc>
              <a:buFont typeface="Arial" panose="020B0604020202020204"/>
              <a:buNone/>
            </a:pPr>
            <a:endParaRPr lang="en-US" sz="2475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marL="448310" lvl="1" indent="-224155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75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Dermatologist-reviewed validation</a:t>
            </a:r>
            <a:endParaRPr lang="en-US" sz="2475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marL="448310" lvl="1" indent="-224155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75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Multilingual support for Tier-2/3 India</a:t>
            </a:r>
            <a:endParaRPr lang="en-US" sz="2475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marL="448310" lvl="1" indent="-224155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75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Live inventory and order APIs</a:t>
            </a:r>
            <a:endParaRPr lang="en-US" sz="2475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195026" cy="12519279"/>
            </a:xfrm>
            <a:custGeom>
              <a:avLst/>
              <a:gdLst/>
              <a:ahLst/>
              <a:cxnLst/>
              <a:rect l="l" t="t" r="r" b="b"/>
              <a:pathLst>
                <a:path w="23195026" h="12519279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50" r="-1925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7084962" y="1372676"/>
            <a:ext cx="5046859" cy="274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08">
                <a:solidFill>
                  <a:srgbClr val="03625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JOYORY AI BEAUTY CONCIERGE</a:t>
            </a:r>
            <a:endParaRPr lang="en-US" sz="1800" spc="108">
              <a:solidFill>
                <a:srgbClr val="03625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290040" y="1937785"/>
            <a:ext cx="11797808" cy="999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25"/>
              </a:lnSpc>
            </a:pPr>
            <a:r>
              <a:rPr lang="en-US" sz="9605" b="1" spc="-336">
                <a:solidFill>
                  <a:srgbClr val="2E3C4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Not a skin scanner.</a:t>
            </a:r>
            <a:endParaRPr lang="en-US" sz="9605" b="1" spc="-336">
              <a:solidFill>
                <a:srgbClr val="2E3C4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72638" y="3375993"/>
            <a:ext cx="15556563" cy="2171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25"/>
              </a:lnSpc>
            </a:pPr>
            <a:r>
              <a:rPr lang="en-US" sz="9605" b="1" spc="-336">
                <a:solidFill>
                  <a:srgbClr val="2E3C4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A retention engine for Joyory.</a:t>
            </a:r>
            <a:endParaRPr lang="en-US" sz="9605" b="1" spc="-336">
              <a:solidFill>
                <a:srgbClr val="2E3C4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549447" y="5499516"/>
            <a:ext cx="6117888" cy="472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75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Disguised as a skincare assistant.</a:t>
            </a:r>
            <a:endParaRPr lang="en-US" sz="2475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1372638" y="6054966"/>
            <a:ext cx="15556563" cy="3203334"/>
            <a:chOff x="0" y="0"/>
            <a:chExt cx="20742084" cy="42711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742148" cy="4271163"/>
            </a:xfrm>
            <a:custGeom>
              <a:avLst/>
              <a:gdLst/>
              <a:ahLst/>
              <a:cxnLst/>
              <a:rect l="l" t="t" r="r" b="b"/>
              <a:pathLst>
                <a:path w="20742148" h="4271163">
                  <a:moveTo>
                    <a:pt x="0" y="1525645"/>
                  </a:moveTo>
                  <a:cubicBezTo>
                    <a:pt x="0" y="682941"/>
                    <a:pt x="225298" y="0"/>
                    <a:pt x="503301" y="0"/>
                  </a:cubicBezTo>
                  <a:lnTo>
                    <a:pt x="20238847" y="0"/>
                  </a:lnTo>
                  <a:cubicBezTo>
                    <a:pt x="20516850" y="0"/>
                    <a:pt x="20742148" y="682941"/>
                    <a:pt x="20742148" y="1525645"/>
                  </a:cubicBezTo>
                  <a:lnTo>
                    <a:pt x="20742148" y="2745621"/>
                  </a:lnTo>
                  <a:cubicBezTo>
                    <a:pt x="20742148" y="3588325"/>
                    <a:pt x="20516850" y="4271163"/>
                    <a:pt x="20238847" y="4271163"/>
                  </a:cubicBezTo>
                  <a:lnTo>
                    <a:pt x="503301" y="4271163"/>
                  </a:lnTo>
                  <a:cubicBezTo>
                    <a:pt x="225298" y="4271163"/>
                    <a:pt x="0" y="3587940"/>
                    <a:pt x="0" y="2745621"/>
                  </a:cubicBezTo>
                  <a:close/>
                </a:path>
              </a:pathLst>
            </a:custGeom>
            <a:solidFill>
              <a:srgbClr val="D0FBFA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372638" y="6819128"/>
            <a:ext cx="15556563" cy="1710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2000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THANK YOU · CODERS</a:t>
            </a:r>
            <a:endParaRPr lang="en-US" sz="2000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2305"/>
              </a:lnSpc>
            </a:pPr>
          </a:p>
          <a:p>
            <a:pPr algn="l">
              <a:lnSpc>
                <a:spcPts val="2305"/>
              </a:lnSpc>
            </a:pPr>
          </a:p>
          <a:p>
            <a:pPr algn="l">
              <a:lnSpc>
                <a:spcPts val="2305"/>
              </a:lnSpc>
            </a:pPr>
            <a:r>
              <a:rPr lang="en-US" sz="2000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CONTACT: DAKSHBHAVSAR3699@GMAIL.COM </a:t>
            </a:r>
            <a:endParaRPr lang="en-US" sz="2000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2305"/>
              </a:lnSpc>
            </a:pPr>
          </a:p>
          <a:p>
            <a:pPr algn="l">
              <a:lnSpc>
                <a:spcPts val="2305"/>
              </a:lnSpc>
            </a:pPr>
            <a:r>
              <a:rPr lang="en-US" sz="2000">
                <a:solidFill>
                  <a:srgbClr val="384653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· PROJECT: HTTPS://GITHUB.COM/YUVRAJGITACC/JOYORY-HOME-DESIGN</a:t>
            </a:r>
            <a:endParaRPr lang="en-US" sz="2000">
              <a:solidFill>
                <a:srgbClr val="384653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3684</Words>
  <Application>WPS Presentation</Application>
  <PresentationFormat>On-screen Show (4:3)</PresentationFormat>
  <Paragraphs>208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Montserrat</vt:lpstr>
      <vt:lpstr>Arimo Bold</vt:lpstr>
      <vt:lpstr>Arimo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Joyory-AI-Beauty-Concierge (1).pptx</dc:title>
  <dc:creator/>
  <cp:lastModifiedBy>Daksh Bhavsar</cp:lastModifiedBy>
  <cp:revision>3</cp:revision>
  <dcterms:created xsi:type="dcterms:W3CDTF">2006-08-16T00:00:00Z</dcterms:created>
  <dcterms:modified xsi:type="dcterms:W3CDTF">2026-09-21T23:54:07Z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F5099A0191534AC0A155817864596666_12</vt:lpwstr>
  </property>
  <property fmtid="{D5CDD505-2E9C-101B-9397-08002B2CF9AE}" pid="3" name="KSOProductBuildVer">
    <vt:lpwstr>1033-12.1.0.28485</vt:lpwstr>
  </property>
</Properties>
</file>